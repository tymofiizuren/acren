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4be7ec2e204271" /><Relationship Type="http://schemas.openxmlformats.org/officeDocument/2006/relationships/extended-properties" Target="/docProps/app.xml" Id="R1e6591a0431a4841" /><Relationship Type="http://schemas.openxmlformats.org/officeDocument/2006/relationships/officeDocument" Target="/ppt/presentation.xml" Id="R52c3ad18f3cf46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37d325962d416e"/>
  </p:sldMasterIdLst>
  <p:notesMasterIdLst>
    <p:notesMasterId xmlns:r="http://schemas.openxmlformats.org/officeDocument/2006/relationships" r:id="Ra1857c41fd024cd9"/>
  </p:notesMasterIdLst>
  <p:sldIdLst>
    <p:sldId xmlns:r="http://schemas.openxmlformats.org/officeDocument/2006/relationships" id="256" r:id="R9dee85282f4c464b"/>
    <p:sldId xmlns:r="http://schemas.openxmlformats.org/officeDocument/2006/relationships" id="257" r:id="R7aa35434ee154afc"/>
    <p:sldId xmlns:r="http://schemas.openxmlformats.org/officeDocument/2006/relationships" id="258" r:id="Rf06433ccf0234b46"/>
    <p:sldId xmlns:r="http://schemas.openxmlformats.org/officeDocument/2006/relationships" id="259" r:id="R563384baba104937"/>
    <p:sldId xmlns:r="http://schemas.openxmlformats.org/officeDocument/2006/relationships" id="260" r:id="R11e8b9631d5749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609a54627e4e5c" /><Relationship Type="http://schemas.openxmlformats.org/officeDocument/2006/relationships/slideMaster" Target="/ppt/slideMasters/slideMaster1.xml" Id="Rdf37d325962d416e" /><Relationship Type="http://schemas.openxmlformats.org/officeDocument/2006/relationships/notesMaster" Target="/ppt/notesMasters/notesMaster1.xml" Id="Ra1857c41fd024cd9" /><Relationship Type="http://schemas.openxmlformats.org/officeDocument/2006/relationships/presProps" Target="/ppt/presProps.xml" Id="R82d195f8689142d4" /><Relationship Type="http://schemas.openxmlformats.org/officeDocument/2006/relationships/tableStyles" Target="/ppt/tableStyles.xml" Id="Rd318d85cd2e2470b" /><Relationship Type="http://schemas.openxmlformats.org/officeDocument/2006/relationships/slide" Target="/ppt/slides/slide1.xml" Id="R9dee85282f4c464b" /><Relationship Type="http://schemas.openxmlformats.org/officeDocument/2006/relationships/slide" Target="/ppt/slides/slide2.xml" Id="R7aa35434ee154afc" /><Relationship Type="http://schemas.openxmlformats.org/officeDocument/2006/relationships/slide" Target="/ppt/slides/slide3.xml" Id="Rf06433ccf0234b46" /><Relationship Type="http://schemas.openxmlformats.org/officeDocument/2006/relationships/slide" Target="/ppt/slides/slide4.xml" Id="R563384baba104937" /><Relationship Type="http://schemas.openxmlformats.org/officeDocument/2006/relationships/slide" Target="/ppt/slides/slide5.xml" Id="R11e8b9631d5749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04e8e67c8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d1a1f22add477a" /><Relationship Type="http://schemas.openxmlformats.org/officeDocument/2006/relationships/notesMaster" Target="/ppt/notesMasters/notesMaster1.xml" Id="R966b2eeb0bf24b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4936b3c8a244a6" /><Relationship Type="http://schemas.openxmlformats.org/officeDocument/2006/relationships/notesMaster" Target="/ppt/notesMasters/notesMaster1.xml" Id="R56f407779d0d42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477e22ed3a4b3c" /><Relationship Type="http://schemas.openxmlformats.org/officeDocument/2006/relationships/notesMaster" Target="/ppt/notesMasters/notesMaster1.xml" Id="R2ccddccd506a4f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54c4b2dbb54054" /><Relationship Type="http://schemas.openxmlformats.org/officeDocument/2006/relationships/notesMaster" Target="/ppt/notesMasters/notesMaster1.xml" Id="R6282e5180dcf40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18899e78f44457" /><Relationship Type="http://schemas.openxmlformats.org/officeDocument/2006/relationships/notesMaster" Target="/ppt/notesMasters/notesMaster1.xml" Id="R591162ffedd2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five-slide presentation describes the local fictional-data demo. Public deployment, hosted verification and real-data approval remain outstanding. Sources: REQUIREMENTS.md and docs/deployment-readiness.md.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src/app/(app)/invoices, src/app/(app)/billing, src/components/client-jobs.tsx, supabase/migrations/20260904200000_consultant_invoices.sql. The browser verified 2 hours at EUR 75 produces a EUR 150 invoice, issued under a fictional practice. Issuing creates a record, without sending email or collecting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supabase/tests/clients_rls.sql, supabase/tests/billing.sql and invoice migration. PostgreSQL RLS, column grants, composite ownership keys and authenticated functions enforce the local boundaries. Privileged database operators remain a separate trust boundary. Hosted API verification remains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4 September 2026 runs of npm test (41), Supabase pgTAP (150), npm run typecheck, npm run lint, isolated production build/session smoke and npm run test:billing-concurrency. npm audit --omit=dev --audit-level=high reported zero known vulnerabilities. This dependency check is not a security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docs/deployment-readiness.md and current repository inspection. No linked Vercel project or hosted Supabase project reference is present. No deployment or external account changes occurred. Original handover remains a public HTTPS URL, private repository, two usable test accounts and hosted cross-account isolation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9b89a93ac45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69b559b9140be" /><Relationship Type="http://schemas.openxmlformats.org/officeDocument/2006/relationships/slideLayout" Target="/ppt/slideLayouts/slideLayout1.xml" Id="R48b47537b91a44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b47537b91a44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309dba61e4bc5" /><Relationship Type="http://schemas.openxmlformats.org/officeDocument/2006/relationships/notesSlide" Target="/ppt/notesSlides/notesSlide1.xml" Id="R7f0a80aab82b4a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5a357bf674391" /><Relationship Type="http://schemas.openxmlformats.org/officeDocument/2006/relationships/notesSlide" Target="/ppt/notesSlides/notesSlide2.xml" Id="Re1d2c509c9274a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20f42950c4cb9" /><Relationship Type="http://schemas.openxmlformats.org/officeDocument/2006/relationships/notesSlide" Target="/ppt/notesSlides/notesSlide3.xml" Id="R8e05a652ea0d42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92a202ac54b6e" /><Relationship Type="http://schemas.openxmlformats.org/officeDocument/2006/relationships/notesSlide" Target="/ppt/notesSlides/notesSlide4.xml" Id="R5070af62f80b47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548beadb64931" /><Relationship Type="http://schemas.openxmlformats.org/officeDocument/2006/relationships/notesSlide" Target="/ppt/notesSlides/notesSlide5.xml" Id="R01caad3548984d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D391E-E6C7-4DAD-9C4B-70FC3144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6CB2C-9F50-4028-8619-AAF80E55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D5D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D5DCE7"/>
                </a:solidFill>
                <a:latin typeface="Helvetica Neue"/>
                <a:ea typeface="Helvetica Neue"/>
                <a:cs typeface="Helvetica Neue"/>
              </a:rPr>
              <a:t>Client work and invoicing</a:t>
            </a:r>
          </a:p>
          <a:p xmlns:a="http://schemas.openxmlformats.org/drawingml/2006/main">
            <a:pPr>
              <a:defRPr sz="3150" b="0">
                <a:solidFill>
                  <a:srgbClr val="D5DCE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D5DCE7"/>
                </a:solidFill>
                <a:latin typeface="Helvetica Neue"/>
                <a:ea typeface="Helvetica Neue"/>
                <a:cs typeface="Helvetica Neue"/>
              </a:rPr>
              <a:t>for agricultural consultants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74052-F332-4D11-AFE7-80DD84D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demo and deployment handover</a:t>
            </a:r>
          </a:p>
          <a:p xmlns:a="http://schemas.openxmlformats.org/drawingml/2006/main">
            <a:pPr>
              <a:defRPr sz="18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4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54949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2349EB-873C-42EF-9702-FA2A7F6F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The consultant’s billing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8AD17-509B-4AA2-83C7-C09365C2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D0106-78B6-419C-8A96-1BC2E65A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Client 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9ADDE-84F3-49AA-BB20-C6C8C274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Add the farmer’s five contact and herd details.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FBCA0-6A89-434F-B205-24D2C151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B2D55-43E1-4E39-ACC5-471F8C17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Completed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68C68-BF45-4E3D-8604-B2CC645A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Record the job and mark the work 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7626F-C701-4D1B-99D4-B65CDC84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5F885-A517-4DD0-AF9D-FE4FB3C0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Rate 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1A943-3854-423B-8EDF-51ED825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5280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Choose a service, quantity and applicable tax.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93CA4-B532-4487-B768-F7587397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DAF08-85A8-48A8-94A0-6F33CF20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529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Invoice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4FC8F-3AA1-4289-B856-150A9C22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5290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Review the draft and issue under your business name.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D97A0-2E62-4EFA-BDE6-C2FA345A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94872-60EF-4F5C-80D7-F7448A9C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Payment 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F745D-D77E-4463-917B-3E9A8381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695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Record receipt of the full amount.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0EC797-E5FC-4F2E-A558-28BB6BDD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Official scheme submission and invoice email delivery remain outside this demo.</a:t>
            </a:r>
          </a:p>
        </p:txBody>
      </p:sp>
    </p:spTree>
    <p:extLst>
      <p:ext uri="{BB962C8B-B14F-4D97-AF65-F5344CB8AC3E}">
        <p14:creationId xmlns:p14="http://schemas.microsoft.com/office/powerpoint/2010/main" val="2006859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10E51-33D6-470D-A68F-362FCBE2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Each consultant owns their records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9151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Database control</a:t>
                      </a:r>
                    </a:p>
                  </a:txBody>
                  <a:tcPr marL="152400" marR="152400" marT="114300" marB="114300" anchor="ctr">
                    <a:solidFill>
                      <a:srgbClr val="17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behaviour</a:t>
                      </a:r>
                    </a:p>
                  </a:txBody>
                  <a:tcPr marL="152400" marR="152400" marT="114300" marB="114300" anchor="ctr">
                    <a:solidFill>
                      <a:srgbClr val="17202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Owner-only access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Another account cannot read the client or invoice.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invoice sequence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Each consultant starts their own numbering at 1.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Preserved invoice details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client or business edits leave invoices unchanged.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Duplicate protection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live invoice per job, including repeated requests.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Recorded transitions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Issuing and payment create protected history.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FC9F8-0082-4DDC-98FB-70072BFC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Local database evidence. Repeat account A / account B checks after deployment.</a:t>
            </a:r>
          </a:p>
        </p:txBody>
      </p:sp>
    </p:spTree>
    <p:extLst>
      <p:ext uri="{BB962C8B-B14F-4D97-AF65-F5344CB8AC3E}">
        <p14:creationId xmlns:p14="http://schemas.microsoft.com/office/powerpoint/2010/main" val="1412239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7C034-B753-4476-8A1B-C11908E3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Local release checks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6B757-0DF5-4246-BFE5-55EAEACA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284DE-7203-49A3-A749-F7D9007D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application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F99EC-BC53-458E-8E27-95FBEB90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150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3BBB4-CF40-4E0E-9725-752AE62F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database assertions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BDE42-9BD4-4BD8-A215-E45A1B65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Eight simultaneous retries issue one invoice once.</a:t>
            </a:r>
          </a:p>
          <a:p xmlns:a="http://schemas.openxmlformats.org/drawingml/2006/main">
            <a:pPr>
              <a:defRPr sz="232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Four invoices receive four consecutive numbers.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A7812-3BF6-4939-995C-80DBF658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Production build, sign-in and private caching pass.</a:t>
            </a:r>
          </a:p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Vercel rejects accidental local database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47364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DAAC9-21DF-486C-A56D-CF306F86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Public demo release still needs hosting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3B887-34DA-47C9-AADD-76BD96D0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Hosting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333B8-6374-4A4A-972B-A2F75D2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719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Approve and connect Vercel and a dedicated</a:t>
            </a:r>
          </a:p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Supabase demo project. Apply the migrations.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0740C-2370-4271-B05F-85933B26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Hosted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56A8E-4C66-40A6-A7A1-F4CFF608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719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Check authentication and ownership with two</a:t>
            </a:r>
          </a:p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accounts, then hand over access privately.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53509-340E-43F3-BAD0-A2C0BAFB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Before real 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7263D-3D3B-43D1-A1D0-D1066E09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719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Approve privacy operations, recovery and security</a:t>
            </a:r>
          </a:p>
          <a:p xmlns:a="http://schemas.openxmlformats.org/drawingml/2006/main">
            <a:pPr>
              <a:def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controls. Review invoicing with an accountant.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95574-6C67-4920-8FD7-738C9FB2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Private repository: github.com/TymofiiZuren/acren</a:t>
            </a:r>
          </a:p>
          <a:p xmlns:a="http://schemas.openxmlformats.org/drawingml/2006/main">
            <a:pPr>
              <a:def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Local changes remain uncommitted. No public URL yet.</a:t>
            </a:r>
          </a:p>
        </p:txBody>
      </p:sp>
    </p:spTree>
    <p:extLst>
      <p:ext uri="{BB962C8B-B14F-4D97-AF65-F5344CB8AC3E}">
        <p14:creationId xmlns:p14="http://schemas.microsoft.com/office/powerpoint/2010/main" val="1951883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2026-09-04T16:13:56.8820000Z</dcterms:created>
  <dcterms:modified xsi:type="dcterms:W3CDTF">2026-09-04T16:13:56.8820000Z</dcterms:modified>
</coreProperties>
</file>
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9de30db1b974bdc" /><Relationship Type="http://schemas.openxmlformats.org/officeDocument/2006/relationships/extended-properties" Target="/docProps/app.xml" Id="Rf1857b75a1a54b75" /><Relationship Type="http://schemas.openxmlformats.org/officeDocument/2006/relationships/officeDocument" Target="/ppt/presentation.xml" Id="R440e6ce5b3c5446e" /></Relationships>
</file>

<file path=ppt/presentation.xml><?xml version="1.0" encoding="utf-8"?>
<p:presentation xmlns:p="http://schemas.openxmlformats.org/presentationml/2006/main">
  <p:sldMasterIdLst>
    <p:sldMasterId xmlns:r="http://schemas.openxmlformats.org/officeDocument/2006/relationships" id="2147483648" r:id="R1d6dc5c6a62a42f2"/>
  </p:sldMasterIdLst>
  <p:notesMasterIdLst>
    <p:notesMasterId xmlns:r="http://schemas.openxmlformats.org/officeDocument/2006/relationships" r:id="R099baf7726df4a34"/>
  </p:notesMasterIdLst>
  <p:sldIdLst>
    <p:sldId xmlns:r="http://schemas.openxmlformats.org/officeDocument/2006/relationships" id="256" r:id="R25b19540980d4519"/>
    <p:sldId xmlns:r="http://schemas.openxmlformats.org/officeDocument/2006/relationships" id="257" r:id="Re3a76f02299c4bd1"/>
    <p:sldId xmlns:r="http://schemas.openxmlformats.org/officeDocument/2006/relationships" id="258" r:id="Rd756d387cee649a9"/>
    <p:sldId xmlns:r="http://schemas.openxmlformats.org/officeDocument/2006/relationships" id="259" r:id="R1a39d39a55e24927"/>
    <p:sldId xmlns:r="http://schemas.openxmlformats.org/officeDocument/2006/relationships" id="260" r:id="R2fa2c783fb0c4860"/>
    <p:sldId xmlns:r="http://schemas.openxmlformats.org/officeDocument/2006/relationships" id="261" r:id="R20779892c31445f0"/>
    <p:sldId xmlns:r="http://schemas.openxmlformats.org/officeDocument/2006/relationships" id="262" r:id="R532ce6f1dc754b1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9e8c6197da64015" /><Relationship Type="http://schemas.openxmlformats.org/officeDocument/2006/relationships/slideMaster" Target="/ppt/slideMasters/slideMaster1.xml" Id="R1d6dc5c6a62a42f2" /><Relationship Type="http://schemas.openxmlformats.org/officeDocument/2006/relationships/notesMaster" Target="/ppt/notesMasters/notesMaster1.xml" Id="R099baf7726df4a34" /><Relationship Type="http://schemas.openxmlformats.org/officeDocument/2006/relationships/presProps" Target="/ppt/presProps.xml" Id="R88d3d1fb4f5b4320" /><Relationship Type="http://schemas.openxmlformats.org/officeDocument/2006/relationships/tableStyles" Target="/ppt/tableStyles.xml" Id="R179cfe5f68d849b5" /><Relationship Type="http://schemas.openxmlformats.org/officeDocument/2006/relationships/slide" Target="/ppt/slides/slide1.xml" Id="R25b19540980d4519" /><Relationship Type="http://schemas.openxmlformats.org/officeDocument/2006/relationships/slide" Target="/ppt/slides/slide2.xml" Id="Re3a76f02299c4bd1" /><Relationship Type="http://schemas.openxmlformats.org/officeDocument/2006/relationships/slide" Target="/ppt/slides/slide3.xml" Id="Rd756d387cee649a9" /><Relationship Type="http://schemas.openxmlformats.org/officeDocument/2006/relationships/slide" Target="/ppt/slides/slide4.xml" Id="R1a39d39a55e24927" /><Relationship Type="http://schemas.openxmlformats.org/officeDocument/2006/relationships/slide" Target="/ppt/slides/slide5.xml" Id="R2fa2c783fb0c4860" /><Relationship Type="http://schemas.openxmlformats.org/officeDocument/2006/relationships/slide" Target="/ppt/slides/slide6.xml" Id="R20779892c31445f0" /><Relationship Type="http://schemas.openxmlformats.org/officeDocument/2006/relationships/slide" Target="/ppt/slides/slide7.xml" Id="R532ce6f1dc754b1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bd92af6f9ee4be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9f661e6b54447ac" /><Relationship Type="http://schemas.openxmlformats.org/officeDocument/2006/relationships/notesMaster" Target="/ppt/notesMasters/notesMaster1.xml" Id="Ree35a5322b7b461e" /></Relationships>
</file>

<file path=ppt/notesSlides/_rels/notesSlide2.xml.rels>&#65279;<?xml version="1.0" encoding="utf-8"?><Relationships xmlns="http://schemas.openxmlformats.org/package/2006/relationships"><Relationship Type="http://schemas.openxmlformats.org/officeDocument/2006/relationships/slide" Target="/ppt/slides/slide2.xml" Id="Rff017898ab0c4e9e" /><Relationship Type="http://schemas.openxmlformats.org/officeDocument/2006/relationships/notesMaster" Target="/ppt/notesMasters/notesMaster1.xml" Id="Rd6f4899fa5ad4ce9" /></Relationships>
</file>

<file path=ppt/notesSlides/_rels/notesSlide3.xml.rels>&#65279;<?xml version="1.0" encoding="utf-8"?><Relationships xmlns="http://schemas.openxmlformats.org/package/2006/relationships"><Relationship Type="http://schemas.openxmlformats.org/officeDocument/2006/relationships/slide" Target="/ppt/slides/slide3.xml" Id="Ra281008419d14003" /><Relationship Type="http://schemas.openxmlformats.org/officeDocument/2006/relationships/notesMaster" Target="/ppt/notesMasters/notesMaster1.xml" Id="Rd9f64d07cc664272" /></Relationships>
</file>

<file path=ppt/notesSlides/_rels/notesSlide4.xml.rels>&#65279;<?xml version="1.0" encoding="utf-8"?><Relationships xmlns="http://schemas.openxmlformats.org/package/2006/relationships"><Relationship Type="http://schemas.openxmlformats.org/officeDocument/2006/relationships/slide" Target="/ppt/slides/slide4.xml" Id="R41499ae8a0ac4aed" /><Relationship Type="http://schemas.openxmlformats.org/officeDocument/2006/relationships/notesMaster" Target="/ppt/notesMasters/notesMaster1.xml" Id="Rc3447446e9794a4f" /></Relationships>
</file>

<file path=ppt/notesSlides/_rels/notesSlide5.xml.rels>&#65279;<?xml version="1.0" encoding="utf-8"?><Relationships xmlns="http://schemas.openxmlformats.org/package/2006/relationships"><Relationship Type="http://schemas.openxmlformats.org/officeDocument/2006/relationships/slide" Target="/ppt/slides/slide5.xml" Id="R3995e14ad1ea4df3" /><Relationship Type="http://schemas.openxmlformats.org/officeDocument/2006/relationships/notesMaster" Target="/ppt/notesMasters/notesMaster1.xml" Id="R76b3eb52d0124c17" /></Relationships>
</file>

<file path=ppt/notesSlides/_rels/notesSlide6.xml.rels>&#65279;<?xml version="1.0" encoding="utf-8"?><Relationships xmlns="http://schemas.openxmlformats.org/package/2006/relationships"><Relationship Type="http://schemas.openxmlformats.org/officeDocument/2006/relationships/slide" Target="/ppt/slides/slide6.xml" Id="R3f205d01ca1d4a37" /><Relationship Type="http://schemas.openxmlformats.org/officeDocument/2006/relationships/notesMaster" Target="/ppt/notesMasters/notesMaster1.xml" Id="Re75829f24fec4a1c" /></Relationships>
</file>

<file path=ppt/notesSlides/_rels/notesSlide7.xml.rels>&#65279;<?xml version="1.0" encoding="utf-8"?><Relationships xmlns="http://schemas.openxmlformats.org/package/2006/relationships"><Relationship Type="http://schemas.openxmlformats.org/officeDocument/2006/relationships/slide" Target="/ppt/slides/slide7.xml" Id="Re95004832baa4528" /><Relationship Type="http://schemas.openxmlformats.org/officeDocument/2006/relationships/notesMaster" Target="/ppt/notesMasters/notesMaster1.xml" Id="R4b5a839d0309439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Audience: product owner and demo reviewers. Consultant/advisor accounts own farmer-client records. There is no farmer login portal. This deck includes fresh local API evidence and the running database policy inspection. No passwords, tokens or personal client data appear in the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REQUIREMENTS.md; src/components/client-advisor.tsx; src/components/client-jobs.tsx; src/app/(app)/invoices; src/lib/phone.ts. Existing local browser checks exercised recommendation, completion, invoice issue and client balance. There is no official scheme submission integration, email delivery, client acceptance portal or shared staff access.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supabase/migrations/20260902120000_create_clients.sql:5 and :17-23. Runtime pg_class inspection confirmed relrowsecurity=true and relforcerowsecurity=true. pg_policies confirmed consultants_select_own_clients. Supabase authenticates the session; auth.uid() identifies the signed-in account in its database request. The app uses createServerClient with the publishable key and user cookies (src/lib/supabase/server.ts:9-15); requireSession verifies the user (src/lib/require-session.ts:5-10). A random URL ID is not an access credential.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supabase/migrations/20260902120000_create_clients.sql:25-34; supabase/migrations/20260904120000_client_history_and_permissions.sql:5-10. Runtime has_column_privilege authenticated consultant_id UPDATE=false; has_table_privilege authenticated DELETE=false; anon SELECT=false. The original DELETE policy remains in the catalog but the later migration revoked the required DELETE grant. RLS and table/column grants must both allow an 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Fresh evidence: 2026-09-04T17:47:23.943Z. Local Supabase API, outside Next.js. Publishable-key API clients with separate real authenticated sessions. Read-only requests. No tokens, passwords, raw IDs or personal records in this report. The script loaded credentials privately and used two separate Supabase clients with persistSession=false. It read a real existing B fixture ID first as B, then requested the identical ID as A. It also queried A's entire client list without an owner filter. The only API mutations were sign-in/sign-out session operations. Client rows remained unchanged. Script: .scratch/isolation-demonstration.mjs. Redacted evidence: .scratch/isolation-evidence.json.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sequence: 1) Open two separate browser profiles and sign in using the private local handover file. Never show that file or session tokens in a recording. 2) Show B’s own fictional client. 3) Open that same client URL as A; the app should show its inaccessible/not-found state. This browser URL sequence is a suggested live walkthrough; the fresh direct API checks on the prior slide are the executed evidence. 4) Show the policy SQL in the migration and runtime pg_policies/pg_class results. 5) Run npx --yes supabase@2.116.0 test db for the 170-assertion local suite. It uses temporary transaction fixtures and rollback, not production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fresh local pgTAP run (170 assertions across seven files), local API demonstration receipt, runtime pg_roles query (authenticated and anon BYPASSRLS=false; service_role BYPASSRLS=true). FORCE ROW LEVEL SECURITY does not restrict superusers or BYPASSRLS roles. Security-definer invoice functions deliberately use elevated privileges and explicitly validate auth.uid(), owner linkage and allowed transitions. See supabase/migrations/20260904200000_consultant_invoices.sql. Public deployment, recovery and real-data operational controls remain pending as recorded in docs/deployment-readiness.md. Native Keynote import has not been tested.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11c02c7d00448e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1af586a128d4858" /><Relationship Type="http://schemas.openxmlformats.org/officeDocument/2006/relationships/slideLayout" Target="/ppt/slideLayouts/slideLayout1.xml" Id="Rc9aaba2e53eb48f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9aaba2e53eb48f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f96cb4426664a8e" /><Relationship Type="http://schemas.openxmlformats.org/officeDocument/2006/relationships/notesSlide" Target="/ppt/notesSlides/notesSlide1.xml" Id="R34b194c35afc4ef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65d2b930e4f43b0" /><Relationship Type="http://schemas.openxmlformats.org/officeDocument/2006/relationships/notesSlide" Target="/ppt/notesSlides/notesSlide2.xml" Id="Rf022693bf1ec4ef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7a6beb89ca843b4" /><Relationship Type="http://schemas.openxmlformats.org/officeDocument/2006/relationships/notesSlide" Target="/ppt/notesSlides/notesSlide3.xml" Id="Rfc327aaf5b2f4d8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a3fb6417c0c427a" /><Relationship Type="http://schemas.openxmlformats.org/officeDocument/2006/relationships/notesSlide" Target="/ppt/notesSlides/notesSlide4.xml" Id="Rd18c3b7ea5b84d1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0cbd709f42541b6" /><Relationship Type="http://schemas.openxmlformats.org/officeDocument/2006/relationships/notesSlide" Target="/ppt/notesSlides/notesSlide5.xml" Id="Rc5e2428d46d94a5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da0c05427a540ad" /><Relationship Type="http://schemas.openxmlformats.org/officeDocument/2006/relationships/notesSlide" Target="/ppt/notesSlides/notesSlide6.xml" Id="R7306e0cd9a9c42e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c017c666141430d" /><Relationship Type="http://schemas.openxmlformats.org/officeDocument/2006/relationships/notesSlide" Target="/ppt/notesSlides/notesSlide7.xml" Id="R52a6c6446f874735" /></Relationships>
</file>

<file path=ppt/slides/slide1.xml><?xml version="1.0" encoding="utf-8"?>
<p:sld xmlns:p="http://schemas.openxmlformats.org/presentationml/2006/main">
  <p:cSld>
    <p:bg>
      <p:bgPr>
        <a:solidFill xmlns:a="http://schemas.openxmlformats.org/drawingml/2006/main">
          <a:srgbClr val="101216"/>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113526D-3135-4DF0-821D-72534E22EA9F}"/>
              </a:ext>
            </a:extLst>
          </p:cNvPr>
          <p:cNvSpPr>
            <a:spLocks xmlns:a="http://schemas.openxmlformats.org/drawingml/2006/main" noGrp="1"/>
          </p:cNvSpPr>
          <p:nvPr/>
        </p:nvSpPr>
        <p:spPr>
          <a:xfrm xmlns:a="http://schemas.openxmlformats.org/drawingml/2006/main">
            <a:off x="685800" y="1476375"/>
            <a:ext cx="10477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200" b="0">
                <a:solidFill>
                  <a:srgbClr val="FFFFFF"/>
                </a:solidFill>
                <a:latin typeface="Helvetica Neue"/>
                <a:ea typeface="Helvetica Neue"/>
                <a:cs typeface="Helvetica Neue"/>
              </a:defRPr>
            </a:pPr>
            <a:r>
              <a:rPr sz="7200" b="0">
                <a:solidFill>
                  <a:srgbClr val="FFFFFF"/>
                </a:solidFill>
                <a:latin typeface="Helvetica Neue"/>
                <a:ea typeface="Helvetica Neue"/>
                <a:cs typeface="Helvetica Neue"/>
              </a:rPr>
              <a:t>Acren</a:t>
            </a:r>
          </a:p>
        </p:txBody>
      </p:sp>
      <p:sp>
        <p:nvSpPr>
          <p:cNvPr id="2" name="">
            <a:extLst xmlns:a="http://schemas.openxmlformats.org/drawingml/2006/main">
              <a:ext uri="{FF2B5EF4-FFF2-40B4-BE49-F238E27FC236}">
                <a16:creationId xmlns:a16="http://schemas.microsoft.com/office/drawing/2014/main" id="{D54FC797-E5BC-43DA-8CA2-5911C2EF62C3}"/>
              </a:ext>
            </a:extLst>
          </p:cNvPr>
          <p:cNvSpPr>
            <a:spLocks xmlns:a="http://schemas.openxmlformats.org/drawingml/2006/main" noGrp="1"/>
          </p:cNvSpPr>
          <p:nvPr/>
        </p:nvSpPr>
        <p:spPr>
          <a:xfrm xmlns:a="http://schemas.openxmlformats.org/drawingml/2006/main">
            <a:off x="742950" y="2952750"/>
            <a:ext cx="10477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D5DCE7"/>
                </a:solidFill>
                <a:latin typeface="Helvetica Neue"/>
                <a:ea typeface="Helvetica Neue"/>
                <a:cs typeface="Helvetica Neue"/>
              </a:defRPr>
            </a:pPr>
            <a:r>
              <a:rPr sz="3225" b="0">
                <a:solidFill>
                  <a:srgbClr val="D5DCE7"/>
                </a:solidFill>
                <a:latin typeface="Helvetica Neue"/>
                <a:ea typeface="Helvetica Neue"/>
                <a:cs typeface="Helvetica Neue"/>
              </a:rPr>
              <a:t>Work completed and</a:t>
            </a:r>
          </a:p>
          <a:p xmlns:a="http://schemas.openxmlformats.org/drawingml/2006/main">
            <a:pPr>
              <a:defRPr sz="3225" b="0">
                <a:solidFill>
                  <a:srgbClr val="D5DCE7"/>
                </a:solidFill>
                <a:latin typeface="Helvetica Neue"/>
                <a:ea typeface="Helvetica Neue"/>
                <a:cs typeface="Helvetica Neue"/>
              </a:defRPr>
            </a:pPr>
            <a:r>
              <a:rPr sz="3225" b="0">
                <a:solidFill>
                  <a:srgbClr val="D5DCE7"/>
                </a:solidFill>
                <a:latin typeface="Helvetica Neue"/>
                <a:ea typeface="Helvetica Neue"/>
                <a:cs typeface="Helvetica Neue"/>
              </a:rPr>
              <a:t>database access demonstration</a:t>
            </a:r>
          </a:p>
        </p:txBody>
      </p:sp>
      <p:sp>
        <p:nvSpPr>
          <p:cNvPr id="3" name="">
            <a:extLst xmlns:a="http://schemas.openxmlformats.org/drawingml/2006/main">
              <a:ext uri="{FF2B5EF4-FFF2-40B4-BE49-F238E27FC236}">
                <a16:creationId xmlns:a16="http://schemas.microsoft.com/office/drawing/2014/main" id="{E0DE1C50-F46B-42CA-B05A-426FA1324126}"/>
              </a:ext>
            </a:extLst>
          </p:cNvPr>
          <p:cNvSpPr>
            <a:spLocks xmlns:a="http://schemas.openxmlformats.org/drawingml/2006/main" noGrp="1"/>
          </p:cNvSpPr>
          <p:nvPr/>
        </p:nvSpPr>
        <p:spPr>
          <a:xfrm xmlns:a="http://schemas.openxmlformats.org/drawingml/2006/main">
            <a:off x="742950" y="5581650"/>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AB6C8"/>
                </a:solidFill>
                <a:latin typeface="Helvetica Neue"/>
                <a:ea typeface="Helvetica Neue"/>
                <a:cs typeface="Helvetica Neue"/>
              </a:defRPr>
            </a:pPr>
            <a:r>
              <a:rPr sz="1875" b="0">
                <a:solidFill>
                  <a:srgbClr val="AAB6C8"/>
                </a:solidFill>
                <a:latin typeface="Helvetica Neue"/>
                <a:ea typeface="Helvetica Neue"/>
                <a:cs typeface="Helvetica Neue"/>
              </a:rPr>
              <a:t>Local demo evidence</a:t>
            </a:r>
          </a:p>
          <a:p xmlns:a="http://schemas.openxmlformats.org/drawingml/2006/main">
            <a:pPr>
              <a:defRPr sz="1875" b="0">
                <a:solidFill>
                  <a:srgbClr val="AAB6C8"/>
                </a:solidFill>
                <a:latin typeface="Helvetica Neue"/>
                <a:ea typeface="Helvetica Neue"/>
                <a:cs typeface="Helvetica Neue"/>
              </a:defRPr>
            </a:pPr>
            <a:r>
              <a:rPr sz="1875" b="0">
                <a:solidFill>
                  <a:srgbClr val="AAB6C8"/>
                </a:solidFill>
                <a:latin typeface="Helvetica Neue"/>
                <a:ea typeface="Helvetica Neue"/>
                <a:cs typeface="Helvetica Neue"/>
              </a:rPr>
              <a:t>4 September 2026</a:t>
            </a:r>
          </a:p>
        </p:txBody>
      </p:sp>
    </p:spTree>
    <p:extLst>
      <p:ext uri="{BB962C8B-B14F-4D97-AF65-F5344CB8AC3E}">
        <p14:creationId xmlns:p14="http://schemas.microsoft.com/office/powerpoint/2010/main" val="144400008"/>
      </p:ext>
    </p:extLst>
  </p:cSld>
</p:sld>
</file>

<file path=ppt/slides/slide2.xml><?xml version="1.0" encoding="utf-8"?>
<p:sld xmlns:p="http://schemas.openxmlformats.org/presentationml/2006/main">
  <p:cSld>
    <p:bg>
      <p:bgPr>
        <a:solidFill xmlns:a="http://schemas.openxmlformats.org/drawingml/2006/main">
          <a:srgbClr val="F6F7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2715A69-D649-426F-8931-43CAD88EFF1B}"/>
              </a:ext>
            </a:extLst>
          </p:cNvPr>
          <p:cNvSpPr>
            <a:spLocks xmlns:a="http://schemas.openxmlformats.org/drawingml/2006/main" noGrp="1"/>
          </p:cNvSpPr>
          <p:nvPr/>
        </p:nvSpPr>
        <p:spPr>
          <a:xfrm xmlns:a="http://schemas.openxmlformats.org/drawingml/2006/main">
            <a:off x="685800" y="5143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202E"/>
                </a:solidFill>
                <a:latin typeface="Helvetica Neue"/>
                <a:ea typeface="Helvetica Neue"/>
                <a:cs typeface="Helvetica Neue"/>
              </a:defRPr>
            </a:pPr>
            <a:r>
              <a:rPr sz="3300" b="0">
                <a:solidFill>
                  <a:srgbClr val="17202E"/>
                </a:solidFill>
                <a:latin typeface="Helvetica Neue"/>
                <a:ea typeface="Helvetica Neue"/>
                <a:cs typeface="Helvetica Neue"/>
              </a:rPr>
              <a:t>What the demo now does</a:t>
            </a:r>
          </a:p>
        </p:txBody>
      </p:sp>
      <p:graphicFrame>
        <p:nvGraphicFramePr>
          <p:cNvPr id="5" name=""/>
          <p:cNvGraphicFramePr/>
          <p:nvPr/>
        </p:nvGraphicFramePr>
        <p:xfrm>
          <a:off xmlns:a="http://schemas.openxmlformats.org/drawingml/2006/main" x="685800" y="1752600"/>
          <a:ext xmlns:a="http://schemas.openxmlformats.org/drawingml/2006/main" cx="10820400" cy="3981450"/>
        </p:xfrm>
        <a:graphic xmlns:a="http://schemas.openxmlformats.org/drawingml/2006/main">
          <a:graphicData uri="http://schemas.openxmlformats.org/drawingml/2006/table">
            <a:tbl>
              <a:tblPr/>
              <a:tblGrid>
                <a:gridCol w="3333750"/>
                <a:gridCol w="7486650"/>
              </a:tblGrid>
              <a:tr h="663575">
                <a:tc>
                  <a:txBody>
                    <a:bodyPr/>
                    <a:lstStyle/>
                    <a:p>
                      <a:r>
                        <a:rPr sz="1875" b="1">
                          <a:solidFill>
                            <a:srgbClr val="FFFFFF"/>
                          </a:solidFill>
                          <a:latin typeface="Helvetica Neue"/>
                          <a:ea typeface="Helvetica Neue"/>
                          <a:cs typeface="Helvetica Neue"/>
                        </a:rPr>
                        <a:t>Area</a:t>
                      </a:r>
                    </a:p>
                  </a:txBody>
                  <a:tcPr marL="152400" marR="152400" marT="114300" marB="114300" anchor="ctr">
                    <a:solidFill>
                      <a:srgbClr val="17202E"/>
                    </a:solidFill>
                  </a:tcPr>
                </a:tc>
                <a:tc>
                  <a:txBody>
                    <a:bodyPr/>
                    <a:lstStyle/>
                    <a:p>
                      <a:r>
                        <a:rPr sz="1875" b="1">
                          <a:solidFill>
                            <a:srgbClr val="FFFFFF"/>
                          </a:solidFill>
                          <a:latin typeface="Helvetica Neue"/>
                          <a:ea typeface="Helvetica Neue"/>
                          <a:cs typeface="Helvetica Neue"/>
                        </a:rPr>
                        <a:t>Available in the local app</a:t>
                      </a:r>
                    </a:p>
                  </a:txBody>
                  <a:tcPr marL="152400" marR="152400" marT="114300" marB="114300" anchor="ctr">
                    <a:solidFill>
                      <a:srgbClr val="17202E"/>
                    </a:solidFill>
                  </a:tcPr>
                </a:tc>
              </a:tr>
              <a:tr h="663575">
                <a:tc>
                  <a:txBody>
                    <a:bodyPr/>
                    <a:lstStyle/>
                    <a:p>
                      <a:r>
                        <a:rPr sz="1875" b="0">
                          <a:solidFill>
                            <a:srgbClr val="17202E"/>
                          </a:solidFill>
                          <a:latin typeface="Helvetica Neue"/>
                          <a:ea typeface="Helvetica Neue"/>
                          <a:cs typeface="Helvetica Neue"/>
                        </a:rPr>
                        <a:t>Client book</a:t>
                      </a:r>
                    </a:p>
                  </a:txBody>
                  <a:tcPr marL="152400" marR="152400" marT="114300" marB="114300" anchor="ctr">
                    <a:solidFill>
                      <a:srgbClr val="FFFFFF"/>
                    </a:solidFill>
                  </a:tcPr>
                </a:tc>
                <a:tc>
                  <a:txBody>
                    <a:bodyPr/>
                    <a:lstStyle/>
                    <a:p>
                      <a:r>
                        <a:rPr sz="1875" b="0">
                          <a:solidFill>
                            <a:srgbClr val="17202E"/>
                          </a:solidFill>
                          <a:latin typeface="Helvetica Neue"/>
                          <a:ea typeface="Helvetica Neue"/>
                          <a:cs typeface="Helvetica Neue"/>
                        </a:rPr>
                        <a:t>Sign in, add, edit, search, archive and restore.</a:t>
                      </a:r>
                    </a:p>
                  </a:txBody>
                  <a:tcPr marL="152400" marR="152400" marT="114300" marB="114300" anchor="ctr">
                    <a:solidFill>
                      <a:srgbClr val="FFFFFF"/>
                    </a:solidFill>
                  </a:tcPr>
                </a:tc>
              </a:tr>
              <a:tr h="663575">
                <a:tc>
                  <a:txBody>
                    <a:bodyPr/>
                    <a:lstStyle/>
                    <a:p>
                      <a:r>
                        <a:rPr sz="1875" b="0">
                          <a:solidFill>
                            <a:srgbClr val="17202E"/>
                          </a:solidFill>
                          <a:latin typeface="Helvetica Neue"/>
                          <a:ea typeface="Helvetica Neue"/>
                          <a:cs typeface="Helvetica Neue"/>
                        </a:rPr>
                        <a:t>Advisor recommendations</a:t>
                      </a:r>
                    </a:p>
                  </a:txBody>
                  <a:tcPr marL="152400" marR="152400" marT="114300" marB="114300" anchor="ctr">
                    <a:solidFill>
                      <a:srgbClr val="FFFFFF"/>
                    </a:solidFill>
                  </a:tcPr>
                </a:tc>
                <a:tc>
                  <a:txBody>
                    <a:bodyPr/>
                    <a:lstStyle/>
                    <a:p>
                      <a:r>
                        <a:rPr sz="1875" b="0">
                          <a:solidFill>
                            <a:srgbClr val="17202E"/>
                          </a:solidFill>
                          <a:latin typeface="Helvetica Neue"/>
                          <a:ea typeface="Helvetica Neue"/>
                          <a:cs typeface="Helvetica Neue"/>
                        </a:rPr>
                        <a:t>Link work, rate and estimated quantity to a client.</a:t>
                      </a:r>
                    </a:p>
                  </a:txBody>
                  <a:tcPr marL="152400" marR="152400" marT="114300" marB="114300" anchor="ctr">
                    <a:solidFill>
                      <a:srgbClr val="FFFFFF"/>
                    </a:solidFill>
                  </a:tcPr>
                </a:tc>
              </a:tr>
              <a:tr h="663575">
                <a:tc>
                  <a:txBody>
                    <a:bodyPr/>
                    <a:lstStyle/>
                    <a:p>
                      <a:r>
                        <a:rPr sz="1875" b="0">
                          <a:solidFill>
                            <a:srgbClr val="17202E"/>
                          </a:solidFill>
                          <a:latin typeface="Helvetica Neue"/>
                          <a:ea typeface="Helvetica Neue"/>
                          <a:cs typeface="Helvetica Neue"/>
                        </a:rPr>
                        <a:t>Work tracking</a:t>
                      </a:r>
                    </a:p>
                  </a:txBody>
                  <a:tcPr marL="152400" marR="152400" marT="114300" marB="114300" anchor="ctr">
                    <a:solidFill>
                      <a:srgbClr val="FFFFFF"/>
                    </a:solidFill>
                  </a:tcPr>
                </a:tc>
                <a:tc>
                  <a:txBody>
                    <a:bodyPr/>
                    <a:lstStyle/>
                    <a:p>
                      <a:r>
                        <a:rPr sz="1875" b="0">
                          <a:solidFill>
                            <a:srgbClr val="17202E"/>
                          </a:solidFill>
                          <a:latin typeface="Helvetica Neue"/>
                          <a:ea typeface="Helvetica Neue"/>
                          <a:cs typeface="Helvetica Neue"/>
                        </a:rPr>
                        <a:t>Planned, in progress, completed and cancelled jobs.</a:t>
                      </a:r>
                    </a:p>
                  </a:txBody>
                  <a:tcPr marL="152400" marR="152400" marT="114300" marB="114300" anchor="ctr">
                    <a:solidFill>
                      <a:srgbClr val="FFFFFF"/>
                    </a:solidFill>
                  </a:tcPr>
                </a:tc>
              </a:tr>
              <a:tr h="663575">
                <a:tc>
                  <a:txBody>
                    <a:bodyPr/>
                    <a:lstStyle/>
                    <a:p>
                      <a:r>
                        <a:rPr sz="1875" b="0">
                          <a:solidFill>
                            <a:srgbClr val="17202E"/>
                          </a:solidFill>
                          <a:latin typeface="Helvetica Neue"/>
                          <a:ea typeface="Helvetica Neue"/>
                          <a:cs typeface="Helvetica Neue"/>
                        </a:rPr>
                        <a:t>Invoices</a:t>
                      </a:r>
                    </a:p>
                  </a:txBody>
                  <a:tcPr marL="152400" marR="152400" marT="114300" marB="114300" anchor="ctr">
                    <a:solidFill>
                      <a:srgbClr val="FFFFFF"/>
                    </a:solidFill>
                  </a:tcPr>
                </a:tc>
                <a:tc>
                  <a:txBody>
                    <a:bodyPr/>
                    <a:lstStyle/>
                    <a:p>
                      <a:r>
                        <a:rPr sz="1875" b="0">
                          <a:solidFill>
                            <a:srgbClr val="17202E"/>
                          </a:solidFill>
                          <a:latin typeface="Helvetica Neue"/>
                          <a:ea typeface="Helvetica Neue"/>
                          <a:cs typeface="Helvetica Neue"/>
                        </a:rPr>
                        <a:t>Issue under the consultant’s business name.</a:t>
                      </a:r>
                    </a:p>
                  </a:txBody>
                  <a:tcPr marL="152400" marR="152400" marT="114300" marB="114300" anchor="ctr">
                    <a:solidFill>
                      <a:srgbClr val="FFFFFF"/>
                    </a:solidFill>
                  </a:tcPr>
                </a:tc>
              </a:tr>
              <a:tr h="663575">
                <a:tc>
                  <a:txBody>
                    <a:bodyPr/>
                    <a:lstStyle/>
                    <a:p>
                      <a:r>
                        <a:rPr sz="1875" b="0">
                          <a:solidFill>
                            <a:srgbClr val="17202E"/>
                          </a:solidFill>
                          <a:latin typeface="Helvetica Neue"/>
                          <a:ea typeface="Helvetica Neue"/>
                          <a:cs typeface="Helvetica Neue"/>
                        </a:rPr>
                        <a:t>Client balance</a:t>
                      </a:r>
                    </a:p>
                  </a:txBody>
                  <a:tcPr marL="152400" marR="152400" marT="114300" marB="114300" anchor="ctr">
                    <a:solidFill>
                      <a:srgbClr val="FFFFFF"/>
                    </a:solidFill>
                  </a:tcPr>
                </a:tc>
                <a:tc>
                  <a:txBody>
                    <a:bodyPr/>
                    <a:lstStyle/>
                    <a:p>
                      <a:r>
                        <a:rPr sz="1875" b="0">
                          <a:solidFill>
                            <a:srgbClr val="17202E"/>
                          </a:solidFill>
                          <a:latin typeface="Helvetica Neue"/>
                          <a:ea typeface="Helvetica Neue"/>
                          <a:cs typeface="Helvetica Neue"/>
                        </a:rPr>
                        <a:t>Unpaid invoices and separate unbilled estimates.</a:t>
                      </a:r>
                    </a:p>
                  </a:txBody>
                  <a:tcPr marL="152400" marR="152400" marT="114300" marB="11430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2175DBF7-DBB0-4366-B99F-0625CBFE7D21}"/>
              </a:ext>
            </a:extLst>
          </p:cNvPr>
          <p:cNvSpPr>
            <a:spLocks xmlns:a="http://schemas.openxmlformats.org/drawingml/2006/main" noGrp="1"/>
          </p:cNvSpPr>
          <p:nvPr/>
        </p:nvSpPr>
        <p:spPr>
          <a:xfrm xmlns:a="http://schemas.openxmlformats.org/drawingml/2006/main">
            <a:off x="685800" y="60198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074"/>
                </a:solidFill>
                <a:latin typeface="Helvetica Neue"/>
                <a:ea typeface="Helvetica Neue"/>
                <a:cs typeface="Helvetica Neue"/>
              </a:defRPr>
            </a:pPr>
            <a:r>
              <a:rPr sz="1800" b="0">
                <a:solidFill>
                  <a:srgbClr val="526074"/>
                </a:solidFill>
                <a:latin typeface="Helvetica Neue"/>
                <a:ea typeface="Helvetica Neue"/>
                <a:cs typeface="Helvetica Neue"/>
              </a:rPr>
              <a:t>Example checked: 2 hours at €75 gives a €150 estimate. Issuing creates €150 owed.</a:t>
            </a:r>
          </a:p>
        </p:txBody>
      </p:sp>
    </p:spTree>
    <p:extLst>
      <p:ext uri="{BB962C8B-B14F-4D97-AF65-F5344CB8AC3E}">
        <p14:creationId xmlns:p14="http://schemas.microsoft.com/office/powerpoint/2010/main" val="877238685"/>
      </p:ext>
    </p:extLst>
  </p:cSld>
</p:sld>
</file>

<file path=ppt/slides/slide3.xml><?xml version="1.0" encoding="utf-8"?>
<p:sld xmlns:p="http://schemas.openxmlformats.org/presentationml/2006/main">
  <p:cSld>
    <p:bg>
      <p:bgPr>
        <a:solidFill xmlns:a="http://schemas.openxmlformats.org/drawingml/2006/main">
          <a:srgbClr val="F6F7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4B86D1C-11AE-4996-B233-2BF53CD98891}"/>
              </a:ext>
            </a:extLst>
          </p:cNvPr>
          <p:cNvSpPr>
            <a:spLocks xmlns:a="http://schemas.openxmlformats.org/drawingml/2006/main" noGrp="1"/>
          </p:cNvSpPr>
          <p:nvPr/>
        </p:nvSpPr>
        <p:spPr>
          <a:xfrm xmlns:a="http://schemas.openxmlformats.org/drawingml/2006/main">
            <a:off x="685800" y="5143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202E"/>
                </a:solidFill>
                <a:latin typeface="Helvetica Neue"/>
                <a:ea typeface="Helvetica Neue"/>
                <a:cs typeface="Helvetica Neue"/>
              </a:defRPr>
            </a:pPr>
            <a:r>
              <a:rPr sz="3300" b="0">
                <a:solidFill>
                  <a:srgbClr val="17202E"/>
                </a:solidFill>
                <a:latin typeface="Helvetica Neue"/>
                <a:ea typeface="Helvetica Neue"/>
                <a:cs typeface="Helvetica Neue"/>
              </a:rPr>
              <a:t>The exact database rule</a:t>
            </a:r>
          </a:p>
        </p:txBody>
      </p:sp>
      <p:sp>
        <p:nvSpPr>
          <p:cNvPr id="2" name="">
            <a:extLst xmlns:a="http://schemas.openxmlformats.org/drawingml/2006/main">
              <a:ext uri="{FF2B5EF4-FFF2-40B4-BE49-F238E27FC236}">
                <a16:creationId xmlns:a16="http://schemas.microsoft.com/office/drawing/2014/main" id="{F5C268B3-7F11-488C-A856-B6F07CAABC17}"/>
              </a:ext>
            </a:extLst>
          </p:cNvPr>
          <p:cNvSpPr>
            <a:spLocks xmlns:a="http://schemas.openxmlformats.org/drawingml/2006/main" noGrp="1"/>
          </p:cNvSpPr>
          <p:nvPr/>
        </p:nvSpPr>
        <p:spPr>
          <a:xfrm xmlns:a="http://schemas.openxmlformats.org/drawingml/2006/main">
            <a:off x="685800" y="16573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202E"/>
                </a:solidFill>
                <a:latin typeface="Helvetica Neue"/>
                <a:ea typeface="Helvetica Neue"/>
                <a:cs typeface="Helvetica Neue"/>
              </a:defRPr>
            </a:pPr>
            <a:r>
              <a:rPr sz="2325" b="0">
                <a:solidFill>
                  <a:srgbClr val="17202E"/>
                </a:solidFill>
                <a:latin typeface="Helvetica Neue"/>
                <a:ea typeface="Helvetica Neue"/>
                <a:cs typeface="Helvetica Neue"/>
              </a:rPr>
              <a:t>public.clients.consultant_id stores the record’s owner.</a:t>
            </a:r>
          </a:p>
          <a:p xmlns:a="http://schemas.openxmlformats.org/drawingml/2006/main">
            <a:pPr>
              <a:defRPr sz="2325" b="0">
                <a:solidFill>
                  <a:srgbClr val="17202E"/>
                </a:solidFill>
                <a:latin typeface="Helvetica Neue"/>
                <a:ea typeface="Helvetica Neue"/>
                <a:cs typeface="Helvetica Neue"/>
              </a:defRPr>
            </a:pPr>
            <a:r>
              <a:rPr sz="2325" b="0">
                <a:solidFill>
                  <a:srgbClr val="17202E"/>
                </a:solidFill>
                <a:latin typeface="Helvetica Neue"/>
                <a:ea typeface="Helvetica Neue"/>
                <a:cs typeface="Helvetica Neue"/>
              </a:rPr>
              <a:t>auth.uid() identifies the signed-in consultant.</a:t>
            </a:r>
          </a:p>
        </p:txBody>
      </p:sp>
      <p:sp>
        <p:nvSpPr>
          <p:cNvPr id="3" name="">
            <a:extLst xmlns:a="http://schemas.openxmlformats.org/drawingml/2006/main">
              <a:ext uri="{FF2B5EF4-FFF2-40B4-BE49-F238E27FC236}">
                <a16:creationId xmlns:a16="http://schemas.microsoft.com/office/drawing/2014/main" id="{A4F9C189-016D-421A-86F6-2F43FF996600}"/>
              </a:ext>
            </a:extLst>
          </p:cNvPr>
          <p:cNvSpPr>
            <a:spLocks xmlns:a="http://schemas.openxmlformats.org/drawingml/2006/main" noGrp="1"/>
          </p:cNvSpPr>
          <p:nvPr/>
        </p:nvSpPr>
        <p:spPr>
          <a:xfrm xmlns:a="http://schemas.openxmlformats.org/drawingml/2006/main">
            <a:off x="685800" y="3028950"/>
            <a:ext cx="10820400"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45DE5"/>
                </a:solidFill>
                <a:latin typeface="Helvetica Neue"/>
                <a:ea typeface="Helvetica Neue"/>
                <a:cs typeface="Helvetica Neue"/>
              </a:defRPr>
            </a:pPr>
            <a:r>
              <a:rPr sz="2325" b="0">
                <a:solidFill>
                  <a:srgbClr val="245DE5"/>
                </a:solidFill>
                <a:latin typeface="Helvetica Neue"/>
                <a:ea typeface="Helvetica Neue"/>
                <a:cs typeface="Helvetica Neue"/>
              </a:rPr>
              <a:t>create policy "consultants_select_own_clients"</a:t>
            </a:r>
          </a:p>
          <a:p xmlns:a="http://schemas.openxmlformats.org/drawingml/2006/main">
            <a:pPr>
              <a:defRPr sz="2325" b="0">
                <a:solidFill>
                  <a:srgbClr val="245DE5"/>
                </a:solidFill>
                <a:latin typeface="Helvetica Neue"/>
                <a:ea typeface="Helvetica Neue"/>
                <a:cs typeface="Helvetica Neue"/>
              </a:defRPr>
            </a:pPr>
            <a:r>
              <a:rPr sz="2325" b="0">
                <a:solidFill>
                  <a:srgbClr val="245DE5"/>
                </a:solidFill>
                <a:latin typeface="Helvetica Neue"/>
                <a:ea typeface="Helvetica Neue"/>
                <a:cs typeface="Helvetica Neue"/>
              </a:rPr>
              <a:t>  on public.clients for select</a:t>
            </a:r>
          </a:p>
          <a:p xmlns:a="http://schemas.openxmlformats.org/drawingml/2006/main">
            <a:pPr>
              <a:defRPr sz="2325" b="0">
                <a:solidFill>
                  <a:srgbClr val="245DE5"/>
                </a:solidFill>
                <a:latin typeface="Helvetica Neue"/>
                <a:ea typeface="Helvetica Neue"/>
                <a:cs typeface="Helvetica Neue"/>
              </a:defRPr>
            </a:pPr>
            <a:r>
              <a:rPr sz="2325" b="0">
                <a:solidFill>
                  <a:srgbClr val="245DE5"/>
                </a:solidFill>
                <a:latin typeface="Helvetica Neue"/>
                <a:ea typeface="Helvetica Neue"/>
                <a:cs typeface="Helvetica Neue"/>
              </a:rPr>
              <a:t>  to authenticated</a:t>
            </a:r>
          </a:p>
          <a:p xmlns:a="http://schemas.openxmlformats.org/drawingml/2006/main">
            <a:pPr>
              <a:defRPr sz="2325" b="0">
                <a:solidFill>
                  <a:srgbClr val="245DE5"/>
                </a:solidFill>
                <a:latin typeface="Helvetica Neue"/>
                <a:ea typeface="Helvetica Neue"/>
                <a:cs typeface="Helvetica Neue"/>
              </a:defRPr>
            </a:pPr>
            <a:r>
              <a:rPr sz="2325" b="0">
                <a:solidFill>
                  <a:srgbClr val="245DE5"/>
                </a:solidFill>
                <a:latin typeface="Helvetica Neue"/>
                <a:ea typeface="Helvetica Neue"/>
                <a:cs typeface="Helvetica Neue"/>
              </a:rPr>
              <a:t>  using ((select auth.uid()) = consultant_id);</a:t>
            </a:r>
          </a:p>
        </p:txBody>
      </p:sp>
      <p:sp>
        <p:nvSpPr>
          <p:cNvPr id="4" name="">
            <a:extLst xmlns:a="http://schemas.openxmlformats.org/drawingml/2006/main">
              <a:ext uri="{FF2B5EF4-FFF2-40B4-BE49-F238E27FC236}">
                <a16:creationId xmlns:a16="http://schemas.microsoft.com/office/drawing/2014/main" id="{3F5C6797-8035-4E3C-9BD8-BF4DB3A0607A}"/>
              </a:ext>
            </a:extLst>
          </p:cNvPr>
          <p:cNvSpPr>
            <a:spLocks xmlns:a="http://schemas.openxmlformats.org/drawingml/2006/main" noGrp="1"/>
          </p:cNvSpPr>
          <p:nvPr/>
        </p:nvSpPr>
        <p:spPr>
          <a:xfrm xmlns:a="http://schemas.openxmlformats.org/drawingml/2006/main">
            <a:off x="685800" y="51054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02E"/>
                </a:solidFill>
                <a:latin typeface="Helvetica Neue"/>
                <a:ea typeface="Helvetica Neue"/>
                <a:cs typeface="Helvetica Neue"/>
              </a:defRPr>
            </a:pPr>
            <a:r>
              <a:rPr sz="2175" b="0">
                <a:solidFill>
                  <a:srgbClr val="17202E"/>
                </a:solidFill>
                <a:latin typeface="Helvetica Neue"/>
                <a:ea typeface="Helvetica Neue"/>
                <a:cs typeface="Helvetica Neue"/>
              </a:rPr>
              <a:t>PostgreSQL returns the row only when those IDs match.</a:t>
            </a:r>
          </a:p>
          <a:p xmlns:a="http://schemas.openxmlformats.org/drawingml/2006/main">
            <a:pPr>
              <a:defRPr sz="2175" b="0">
                <a:solidFill>
                  <a:srgbClr val="17202E"/>
                </a:solidFill>
                <a:latin typeface="Helvetica Neue"/>
                <a:ea typeface="Helvetica Neue"/>
                <a:cs typeface="Helvetica Neue"/>
              </a:defRPr>
            </a:pPr>
            <a:r>
              <a:rPr sz="2175" b="0">
                <a:solidFill>
                  <a:srgbClr val="17202E"/>
                </a:solidFill>
                <a:latin typeface="Helvetica Neue"/>
                <a:ea typeface="Helvetica Neue"/>
                <a:cs typeface="Helvetica Neue"/>
              </a:rPr>
              <a:t>The rule applies even when a query omits an owner filter.</a:t>
            </a:r>
          </a:p>
        </p:txBody>
      </p:sp>
      <p:sp>
        <p:nvSpPr>
          <p:cNvPr id="5" name="">
            <a:extLst xmlns:a="http://schemas.openxmlformats.org/drawingml/2006/main">
              <a:ext uri="{FF2B5EF4-FFF2-40B4-BE49-F238E27FC236}">
                <a16:creationId xmlns:a16="http://schemas.microsoft.com/office/drawing/2014/main" id="{78AA1A3C-A75A-47FF-B3CD-139EBB25A9BC}"/>
              </a:ext>
            </a:extLst>
          </p:cNvPr>
          <p:cNvSpPr>
            <a:spLocks xmlns:a="http://schemas.openxmlformats.org/drawingml/2006/main" noGrp="1"/>
          </p:cNvSpPr>
          <p:nvPr/>
        </p:nvSpPr>
        <p:spPr>
          <a:xfrm xmlns:a="http://schemas.openxmlformats.org/drawingml/2006/main">
            <a:off x="685800" y="624840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074"/>
                </a:solidFill>
                <a:latin typeface="Helvetica Neue"/>
                <a:ea typeface="Helvetica Neue"/>
                <a:cs typeface="Helvetica Neue"/>
              </a:defRPr>
            </a:pPr>
            <a:r>
              <a:rPr sz="1650" b="0">
                <a:solidFill>
                  <a:srgbClr val="526074"/>
                </a:solidFill>
                <a:latin typeface="Helvetica Neue"/>
                <a:ea typeface="Helvetica Neue"/>
                <a:cs typeface="Helvetica Neue"/>
              </a:rPr>
              <a:t>20260902120000_create_clients.sql, lines 17–23</a:t>
            </a:r>
          </a:p>
        </p:txBody>
      </p:sp>
    </p:spTree>
    <p:extLst>
      <p:ext uri="{BB962C8B-B14F-4D97-AF65-F5344CB8AC3E}">
        <p14:creationId xmlns:p14="http://schemas.microsoft.com/office/powerpoint/2010/main" val="497352002"/>
      </p:ext>
    </p:extLst>
  </p:cSld>
</p:sld>
</file>

<file path=ppt/slides/slide4.xml><?xml version="1.0" encoding="utf-8"?>
<p:sld xmlns:p="http://schemas.openxmlformats.org/presentationml/2006/main">
  <p:cSld>
    <p:bg>
      <p:bgPr>
        <a:solidFill xmlns:a="http://schemas.openxmlformats.org/drawingml/2006/main">
          <a:srgbClr val="F6F7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81575FE-2F34-40C1-B934-8479F18939BB}"/>
              </a:ext>
            </a:extLst>
          </p:cNvPr>
          <p:cNvSpPr>
            <a:spLocks xmlns:a="http://schemas.openxmlformats.org/drawingml/2006/main" noGrp="1"/>
          </p:cNvSpPr>
          <p:nvPr/>
        </p:nvSpPr>
        <p:spPr>
          <a:xfrm xmlns:a="http://schemas.openxmlformats.org/drawingml/2006/main">
            <a:off x="685800" y="5143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202E"/>
                </a:solidFill>
                <a:latin typeface="Helvetica Neue"/>
                <a:ea typeface="Helvetica Neue"/>
                <a:cs typeface="Helvetica Neue"/>
              </a:defRPr>
            </a:pPr>
            <a:r>
              <a:rPr sz="3300" b="0">
                <a:solidFill>
                  <a:srgbClr val="17202E"/>
                </a:solidFill>
                <a:latin typeface="Helvetica Neue"/>
                <a:ea typeface="Helvetica Neue"/>
                <a:cs typeface="Helvetica Neue"/>
              </a:rPr>
              <a:t>Database checks also restrict writes</a:t>
            </a:r>
          </a:p>
        </p:txBody>
      </p:sp>
      <p:graphicFrame>
        <p:nvGraphicFramePr>
          <p:cNvPr id="5" name=""/>
          <p:cNvGraphicFramePr/>
          <p:nvPr/>
        </p:nvGraphicFramePr>
        <p:xfrm>
          <a:off xmlns:a="http://schemas.openxmlformats.org/drawingml/2006/main" x="685800" y="1752600"/>
          <a:ext xmlns:a="http://schemas.openxmlformats.org/drawingml/2006/main" cx="10820400" cy="3981450"/>
        </p:xfrm>
        <a:graphic xmlns:a="http://schemas.openxmlformats.org/drawingml/2006/main">
          <a:graphicData uri="http://schemas.openxmlformats.org/drawingml/2006/table">
            <a:tbl>
              <a:tblPr/>
              <a:tblGrid>
                <a:gridCol w="4905375"/>
                <a:gridCol w="5915025"/>
              </a:tblGrid>
              <a:tr h="663575">
                <a:tc>
                  <a:txBody>
                    <a:bodyPr/>
                    <a:lstStyle/>
                    <a:p>
                      <a:r>
                        <a:rPr sz="1875" b="1">
                          <a:solidFill>
                            <a:srgbClr val="FFFFFF"/>
                          </a:solidFill>
                          <a:latin typeface="Helvetica Neue"/>
                          <a:ea typeface="Helvetica Neue"/>
                          <a:cs typeface="Helvetica Neue"/>
                        </a:rPr>
                        <a:t>Attempt</a:t>
                      </a:r>
                    </a:p>
                  </a:txBody>
                  <a:tcPr marL="152400" marR="152400" marT="114300" marB="114300" anchor="ctr">
                    <a:solidFill>
                      <a:srgbClr val="17202E"/>
                    </a:solidFill>
                  </a:tcPr>
                </a:tc>
                <a:tc>
                  <a:txBody>
                    <a:bodyPr/>
                    <a:lstStyle/>
                    <a:p>
                      <a:r>
                        <a:rPr sz="1875" b="1">
                          <a:solidFill>
                            <a:srgbClr val="FFFFFF"/>
                          </a:solidFill>
                          <a:latin typeface="Helvetica Neue"/>
                          <a:ea typeface="Helvetica Neue"/>
                          <a:cs typeface="Helvetica Neue"/>
                        </a:rPr>
                        <a:t>Database enforcement</a:t>
                      </a:r>
                    </a:p>
                  </a:txBody>
                  <a:tcPr marL="152400" marR="152400" marT="114300" marB="114300" anchor="ctr">
                    <a:solidFill>
                      <a:srgbClr val="17202E"/>
                    </a:solidFill>
                  </a:tcPr>
                </a:tc>
              </a:tr>
              <a:tr h="663575">
                <a:tc>
                  <a:txBody>
                    <a:bodyPr/>
                    <a:lstStyle/>
                    <a:p>
                      <a:r>
                        <a:rPr sz="1875" b="0">
                          <a:solidFill>
                            <a:srgbClr val="17202E"/>
                          </a:solidFill>
                          <a:latin typeface="Helvetica Neue"/>
                          <a:ea typeface="Helvetica Neue"/>
                          <a:cs typeface="Helvetica Neue"/>
                        </a:rPr>
                        <a:t>Read or update another owner’s row</a:t>
                      </a:r>
                    </a:p>
                  </a:txBody>
                  <a:tcPr marL="152400" marR="152400" marT="114300" marB="114300" anchor="ctr">
                    <a:solidFill>
                      <a:srgbClr val="FFFFFF"/>
                    </a:solidFill>
                  </a:tcPr>
                </a:tc>
                <a:tc>
                  <a:txBody>
                    <a:bodyPr/>
                    <a:lstStyle/>
                    <a:p>
                      <a:r>
                        <a:rPr sz="1875" b="0">
                          <a:solidFill>
                            <a:srgbClr val="17202E"/>
                          </a:solidFill>
                          <a:latin typeface="Helvetica Neue"/>
                          <a:ea typeface="Helvetica Neue"/>
                          <a:cs typeface="Helvetica Neue"/>
                        </a:rPr>
                        <a:t>USING requires auth.uid() = consultant_id.</a:t>
                      </a:r>
                    </a:p>
                  </a:txBody>
                  <a:tcPr marL="152400" marR="152400" marT="114300" marB="114300" anchor="ctr">
                    <a:solidFill>
                      <a:srgbClr val="FFFFFF"/>
                    </a:solidFill>
                  </a:tcPr>
                </a:tc>
              </a:tr>
              <a:tr h="663575">
                <a:tc>
                  <a:txBody>
                    <a:bodyPr/>
                    <a:lstStyle/>
                    <a:p>
                      <a:r>
                        <a:rPr sz="1875" b="0">
                          <a:solidFill>
                            <a:srgbClr val="17202E"/>
                          </a:solidFill>
                          <a:latin typeface="Helvetica Neue"/>
                          <a:ea typeface="Helvetica Neue"/>
                          <a:cs typeface="Helvetica Neue"/>
                        </a:rPr>
                        <a:t>Insert with another owner’s ID</a:t>
                      </a:r>
                    </a:p>
                  </a:txBody>
                  <a:tcPr marL="152400" marR="152400" marT="114300" marB="114300" anchor="ctr">
                    <a:solidFill>
                      <a:srgbClr val="FFFFFF"/>
                    </a:solidFill>
                  </a:tcPr>
                </a:tc>
                <a:tc>
                  <a:txBody>
                    <a:bodyPr/>
                    <a:lstStyle/>
                    <a:p>
                      <a:r>
                        <a:rPr sz="1875" b="0">
                          <a:solidFill>
                            <a:srgbClr val="17202E"/>
                          </a:solidFill>
                          <a:latin typeface="Helvetica Neue"/>
                          <a:ea typeface="Helvetica Neue"/>
                          <a:cs typeface="Helvetica Neue"/>
                        </a:rPr>
                        <a:t>WITH CHECK rejects the mismatched owner.</a:t>
                      </a:r>
                    </a:p>
                  </a:txBody>
                  <a:tcPr marL="152400" marR="152400" marT="114300" marB="114300" anchor="ctr">
                    <a:solidFill>
                      <a:srgbClr val="FFFFFF"/>
                    </a:solidFill>
                  </a:tcPr>
                </a:tc>
              </a:tr>
              <a:tr h="663575">
                <a:tc>
                  <a:txBody>
                    <a:bodyPr/>
                    <a:lstStyle/>
                    <a:p>
                      <a:r>
                        <a:rPr sz="1875" b="0">
                          <a:solidFill>
                            <a:srgbClr val="17202E"/>
                          </a:solidFill>
                          <a:latin typeface="Helvetica Neue"/>
                          <a:ea typeface="Helvetica Neue"/>
                          <a:cs typeface="Helvetica Neue"/>
                        </a:rPr>
                        <a:t>Change a client’s owner</a:t>
                      </a:r>
                    </a:p>
                  </a:txBody>
                  <a:tcPr marL="152400" marR="152400" marT="114300" marB="114300" anchor="ctr">
                    <a:solidFill>
                      <a:srgbClr val="FFFFFF"/>
                    </a:solidFill>
                  </a:tcPr>
                </a:tc>
                <a:tc>
                  <a:txBody>
                    <a:bodyPr/>
                    <a:lstStyle/>
                    <a:p>
                      <a:r>
                        <a:rPr sz="1875" b="0">
                          <a:solidFill>
                            <a:srgbClr val="17202E"/>
                          </a:solidFill>
                          <a:latin typeface="Helvetica Neue"/>
                          <a:ea typeface="Helvetica Neue"/>
                          <a:cs typeface="Helvetica Neue"/>
                        </a:rPr>
                        <a:t>UPDATE permission excludes consultant_id.</a:t>
                      </a:r>
                    </a:p>
                  </a:txBody>
                  <a:tcPr marL="152400" marR="152400" marT="114300" marB="114300" anchor="ctr">
                    <a:solidFill>
                      <a:srgbClr val="FFFFFF"/>
                    </a:solidFill>
                  </a:tcPr>
                </a:tc>
              </a:tr>
              <a:tr h="663575">
                <a:tc>
                  <a:txBody>
                    <a:bodyPr/>
                    <a:lstStyle/>
                    <a:p>
                      <a:r>
                        <a:rPr sz="1875" b="0">
                          <a:solidFill>
                            <a:srgbClr val="17202E"/>
                          </a:solidFill>
                          <a:latin typeface="Helvetica Neue"/>
                          <a:ea typeface="Helvetica Neue"/>
                          <a:cs typeface="Helvetica Neue"/>
                        </a:rPr>
                        <a:t>Permanently delete a client</a:t>
                      </a:r>
                    </a:p>
                  </a:txBody>
                  <a:tcPr marL="152400" marR="152400" marT="114300" marB="114300" anchor="ctr">
                    <a:solidFill>
                      <a:srgbClr val="FFFFFF"/>
                    </a:solidFill>
                  </a:tcPr>
                </a:tc>
                <a:tc>
                  <a:txBody>
                    <a:bodyPr/>
                    <a:lstStyle/>
                    <a:p>
                      <a:r>
                        <a:rPr sz="1875" b="0">
                          <a:solidFill>
                            <a:srgbClr val="17202E"/>
                          </a:solidFill>
                          <a:latin typeface="Helvetica Neue"/>
                          <a:ea typeface="Helvetica Neue"/>
                          <a:cs typeface="Helvetica Neue"/>
                        </a:rPr>
                        <a:t>Ordinary accounts have no DELETE permission.</a:t>
                      </a:r>
                    </a:p>
                  </a:txBody>
                  <a:tcPr marL="152400" marR="152400" marT="114300" marB="114300" anchor="ctr">
                    <a:solidFill>
                      <a:srgbClr val="FFFFFF"/>
                    </a:solidFill>
                  </a:tcPr>
                </a:tc>
              </a:tr>
              <a:tr h="663575">
                <a:tc>
                  <a:txBody>
                    <a:bodyPr/>
                    <a:lstStyle/>
                    <a:p>
                      <a:r>
                        <a:rPr sz="1875" b="0">
                          <a:solidFill>
                            <a:srgbClr val="17202E"/>
                          </a:solidFill>
                          <a:latin typeface="Helvetica Neue"/>
                          <a:ea typeface="Helvetica Neue"/>
                          <a:cs typeface="Helvetica Neue"/>
                        </a:rPr>
                        <a:t>Read without authentication</a:t>
                      </a:r>
                    </a:p>
                  </a:txBody>
                  <a:tcPr marL="152400" marR="152400" marT="114300" marB="114300" anchor="ctr">
                    <a:solidFill>
                      <a:srgbClr val="FFFFFF"/>
                    </a:solidFill>
                  </a:tcPr>
                </a:tc>
                <a:tc>
                  <a:txBody>
                    <a:bodyPr/>
                    <a:lstStyle/>
                    <a:p>
                      <a:r>
                        <a:rPr sz="1875" b="0">
                          <a:solidFill>
                            <a:srgbClr val="17202E"/>
                          </a:solidFill>
                          <a:latin typeface="Helvetica Neue"/>
                          <a:ea typeface="Helvetica Neue"/>
                          <a:cs typeface="Helvetica Neue"/>
                        </a:rPr>
                        <a:t>Anonymous accounts have no SELECT permission.</a:t>
                      </a:r>
                    </a:p>
                  </a:txBody>
                  <a:tcPr marL="152400" marR="152400" marT="114300" marB="11430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6C302F5D-AE3E-47F4-B3CD-21F92D95CE1D}"/>
              </a:ext>
            </a:extLst>
          </p:cNvPr>
          <p:cNvSpPr>
            <a:spLocks xmlns:a="http://schemas.openxmlformats.org/drawingml/2006/main" noGrp="1"/>
          </p:cNvSpPr>
          <p:nvPr/>
        </p:nvSpPr>
        <p:spPr>
          <a:xfrm xmlns:a="http://schemas.openxmlformats.org/drawingml/2006/main">
            <a:off x="685800" y="59817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074"/>
                </a:solidFill>
                <a:latin typeface="Helvetica Neue"/>
                <a:ea typeface="Helvetica Neue"/>
                <a:cs typeface="Helvetica Neue"/>
              </a:defRPr>
            </a:pPr>
            <a:r>
              <a:rPr sz="1725" b="0">
                <a:solidFill>
                  <a:srgbClr val="526074"/>
                </a:solidFill>
                <a:latin typeface="Helvetica Neue"/>
                <a:ea typeface="Helvetica Neue"/>
                <a:cs typeface="Helvetica Neue"/>
              </a:rPr>
              <a:t>Owner policies: create_clients.sql, lines 25–34. Column grants: history migration, lines 5–10.</a:t>
            </a:r>
          </a:p>
        </p:txBody>
      </p:sp>
    </p:spTree>
    <p:extLst>
      <p:ext uri="{BB962C8B-B14F-4D97-AF65-F5344CB8AC3E}">
        <p14:creationId xmlns:p14="http://schemas.microsoft.com/office/powerpoint/2010/main" val="1177555423"/>
      </p:ext>
    </p:extLst>
  </p:cSld>
</p:sld>
</file>

<file path=ppt/slides/slide5.xml><?xml version="1.0" encoding="utf-8"?>
<p:sld xmlns:p="http://schemas.openxmlformats.org/presentationml/2006/main">
  <p:cSld>
    <p:bg>
      <p:bgPr>
        <a:solidFill xmlns:a="http://schemas.openxmlformats.org/drawingml/2006/main">
          <a:srgbClr val="F6F7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477C44F-5E4C-4709-8140-BC01C95CA75E}"/>
              </a:ext>
            </a:extLst>
          </p:cNvPr>
          <p:cNvSpPr>
            <a:spLocks xmlns:a="http://schemas.openxmlformats.org/drawingml/2006/main" noGrp="1"/>
          </p:cNvSpPr>
          <p:nvPr/>
        </p:nvSpPr>
        <p:spPr>
          <a:xfrm xmlns:a="http://schemas.openxmlformats.org/drawingml/2006/main">
            <a:off x="685800" y="5143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202E"/>
                </a:solidFill>
                <a:latin typeface="Helvetica Neue"/>
                <a:ea typeface="Helvetica Neue"/>
                <a:cs typeface="Helvetica Neue"/>
              </a:defRPr>
            </a:pPr>
            <a:r>
              <a:rPr sz="3300" b="0">
                <a:solidFill>
                  <a:srgbClr val="17202E"/>
                </a:solidFill>
                <a:latin typeface="Helvetica Neue"/>
                <a:ea typeface="Helvetica Neue"/>
                <a:cs typeface="Helvetica Neue"/>
              </a:rPr>
              <a:t>Direct API demonstration results</a:t>
            </a:r>
          </a:p>
        </p:txBody>
      </p:sp>
      <p:graphicFrame>
        <p:nvGraphicFramePr>
          <p:cNvPr id="5" name=""/>
          <p:cNvGraphicFramePr/>
          <p:nvPr/>
        </p:nvGraphicFramePr>
        <p:xfrm>
          <a:off xmlns:a="http://schemas.openxmlformats.org/drawingml/2006/main" x="685800" y="1685925"/>
          <a:ext xmlns:a="http://schemas.openxmlformats.org/drawingml/2006/main" cx="10820400" cy="4248150"/>
        </p:xfrm>
        <a:graphic xmlns:a="http://schemas.openxmlformats.org/drawingml/2006/main">
          <a:graphicData uri="http://schemas.openxmlformats.org/drawingml/2006/table">
            <a:tbl>
              <a:tblPr/>
              <a:tblGrid>
                <a:gridCol w="7181850"/>
                <a:gridCol w="3638550"/>
              </a:tblGrid>
              <a:tr h="606879">
                <a:tc>
                  <a:txBody>
                    <a:bodyPr/>
                    <a:lstStyle/>
                    <a:p>
                      <a:r>
                        <a:rPr sz="1875" b="1">
                          <a:solidFill>
                            <a:srgbClr val="FFFFFF"/>
                          </a:solidFill>
                          <a:latin typeface="Helvetica Neue"/>
                          <a:ea typeface="Helvetica Neue"/>
                          <a:cs typeface="Helvetica Neue"/>
                        </a:rPr>
                        <a:t>Request outside the website</a:t>
                      </a:r>
                    </a:p>
                  </a:txBody>
                  <a:tcPr marL="152400" marR="152400" marT="114300" marB="114300" anchor="ctr">
                    <a:solidFill>
                      <a:srgbClr val="17202E"/>
                    </a:solidFill>
                  </a:tcPr>
                </a:tc>
                <a:tc>
                  <a:txBody>
                    <a:bodyPr/>
                    <a:lstStyle/>
                    <a:p>
                      <a:r>
                        <a:rPr sz="1875" b="1">
                          <a:solidFill>
                            <a:srgbClr val="FFFFFF"/>
                          </a:solidFill>
                          <a:latin typeface="Helvetica Neue"/>
                          <a:ea typeface="Helvetica Neue"/>
                          <a:cs typeface="Helvetica Neue"/>
                        </a:rPr>
                        <a:t>Observed result</a:t>
                      </a:r>
                    </a:p>
                  </a:txBody>
                  <a:tcPr marL="152400" marR="152400" marT="114300" marB="114300" anchor="ctr">
                    <a:solidFill>
                      <a:srgbClr val="17202E"/>
                    </a:solidFill>
                  </a:tcPr>
                </a:tc>
              </a:tr>
              <a:tr h="606879">
                <a:tc>
                  <a:txBody>
                    <a:bodyPr/>
                    <a:lstStyle/>
                    <a:p>
                      <a:r>
                        <a:rPr sz="1875" b="0">
                          <a:solidFill>
                            <a:srgbClr val="17202E"/>
                          </a:solidFill>
                          <a:latin typeface="Helvetica Neue"/>
                          <a:ea typeface="Helvetica Neue"/>
                          <a:cs typeface="Helvetica Neue"/>
                        </a:rPr>
                        <a:t>B reads B’s known client ID</a:t>
                      </a:r>
                    </a:p>
                  </a:txBody>
                  <a:tcPr marL="152400" marR="152400" marT="114300" marB="114300" anchor="ctr">
                    <a:solidFill>
                      <a:srgbClr val="FFFFFF"/>
                    </a:solidFill>
                  </a:tcPr>
                </a:tc>
                <a:tc>
                  <a:txBody>
                    <a:bodyPr/>
                    <a:lstStyle/>
                    <a:p>
                      <a:r>
                        <a:rPr sz="1875" b="0">
                          <a:solidFill>
                            <a:srgbClr val="17202E"/>
                          </a:solidFill>
                          <a:latin typeface="Helvetica Neue"/>
                          <a:ea typeface="Helvetica Neue"/>
                          <a:cs typeface="Helvetica Neue"/>
                        </a:rPr>
                        <a:t>1 row</a:t>
                      </a:r>
                    </a:p>
                  </a:txBody>
                  <a:tcPr marL="152400" marR="152400" marT="114300" marB="114300" anchor="ctr">
                    <a:solidFill>
                      <a:srgbClr val="FFFFFF"/>
                    </a:solidFill>
                  </a:tcPr>
                </a:tc>
              </a:tr>
              <a:tr h="606879">
                <a:tc>
                  <a:txBody>
                    <a:bodyPr/>
                    <a:lstStyle/>
                    <a:p>
                      <a:r>
                        <a:rPr sz="1875" b="0">
                          <a:solidFill>
                            <a:srgbClr val="17202E"/>
                          </a:solidFill>
                          <a:latin typeface="Helvetica Neue"/>
                          <a:ea typeface="Helvetica Neue"/>
                          <a:cs typeface="Helvetica Neue"/>
                        </a:rPr>
                        <a:t>A reads that same client ID</a:t>
                      </a:r>
                    </a:p>
                  </a:txBody>
                  <a:tcPr marL="152400" marR="152400" marT="114300" marB="114300" anchor="ctr">
                    <a:solidFill>
                      <a:srgbClr val="FFFFFF"/>
                    </a:solidFill>
                  </a:tcPr>
                </a:tc>
                <a:tc>
                  <a:txBody>
                    <a:bodyPr/>
                    <a:lstStyle/>
                    <a:p>
                      <a:r>
                        <a:rPr sz="1875" b="0">
                          <a:solidFill>
                            <a:srgbClr val="17202E"/>
                          </a:solidFill>
                          <a:latin typeface="Helvetica Neue"/>
                          <a:ea typeface="Helvetica Neue"/>
                          <a:cs typeface="Helvetica Neue"/>
                        </a:rPr>
                        <a:t>0 rows</a:t>
                      </a:r>
                    </a:p>
                  </a:txBody>
                  <a:tcPr marL="152400" marR="152400" marT="114300" marB="114300" anchor="ctr">
                    <a:solidFill>
                      <a:srgbClr val="FFFFFF"/>
                    </a:solidFill>
                  </a:tcPr>
                </a:tc>
              </a:tr>
              <a:tr h="606879">
                <a:tc>
                  <a:txBody>
                    <a:bodyPr/>
                    <a:lstStyle/>
                    <a:p>
                      <a:r>
                        <a:rPr sz="1875" b="0">
                          <a:solidFill>
                            <a:srgbClr val="17202E"/>
                          </a:solidFill>
                          <a:latin typeface="Helvetica Neue"/>
                          <a:ea typeface="Helvetica Neue"/>
                          <a:cs typeface="Helvetica Neue"/>
                        </a:rPr>
                        <a:t>B reads A’s known client ID</a:t>
                      </a:r>
                    </a:p>
                  </a:txBody>
                  <a:tcPr marL="152400" marR="152400" marT="114300" marB="114300" anchor="ctr">
                    <a:solidFill>
                      <a:srgbClr val="FFFFFF"/>
                    </a:solidFill>
                  </a:tcPr>
                </a:tc>
                <a:tc>
                  <a:txBody>
                    <a:bodyPr/>
                    <a:lstStyle/>
                    <a:p>
                      <a:r>
                        <a:rPr sz="1875" b="0">
                          <a:solidFill>
                            <a:srgbClr val="17202E"/>
                          </a:solidFill>
                          <a:latin typeface="Helvetica Neue"/>
                          <a:ea typeface="Helvetica Neue"/>
                          <a:cs typeface="Helvetica Neue"/>
                        </a:rPr>
                        <a:t>0 rows</a:t>
                      </a:r>
                    </a:p>
                  </a:txBody>
                  <a:tcPr marL="152400" marR="152400" marT="114300" marB="114300" anchor="ctr">
                    <a:solidFill>
                      <a:srgbClr val="FFFFFF"/>
                    </a:solidFill>
                  </a:tcPr>
                </a:tc>
              </a:tr>
              <a:tr h="606879">
                <a:tc>
                  <a:txBody>
                    <a:bodyPr/>
                    <a:lstStyle/>
                    <a:p>
                      <a:r>
                        <a:rPr sz="1875" b="0">
                          <a:solidFill>
                            <a:srgbClr val="17202E"/>
                          </a:solidFill>
                          <a:latin typeface="Helvetica Neue"/>
                          <a:ea typeface="Helvetica Neue"/>
                          <a:cs typeface="Helvetica Neue"/>
                        </a:rPr>
                        <a:t>A lists clients without an owner filter</a:t>
                      </a:r>
                    </a:p>
                  </a:txBody>
                  <a:tcPr marL="152400" marR="152400" marT="114300" marB="114300" anchor="ctr">
                    <a:solidFill>
                      <a:srgbClr val="FFFFFF"/>
                    </a:solidFill>
                  </a:tcPr>
                </a:tc>
                <a:tc>
                  <a:txBody>
                    <a:bodyPr/>
                    <a:lstStyle/>
                    <a:p>
                      <a:r>
                        <a:rPr sz="1875" b="0">
                          <a:solidFill>
                            <a:srgbClr val="17202E"/>
                          </a:solidFill>
                          <a:latin typeface="Helvetica Neue"/>
                          <a:ea typeface="Helvetica Neue"/>
                          <a:cs typeface="Helvetica Neue"/>
                        </a:rPr>
                        <a:t>B’s client absent</a:t>
                      </a:r>
                    </a:p>
                  </a:txBody>
                  <a:tcPr marL="152400" marR="152400" marT="114300" marB="114300" anchor="ctr">
                    <a:solidFill>
                      <a:srgbClr val="FFFFFF"/>
                    </a:solidFill>
                  </a:tcPr>
                </a:tc>
              </a:tr>
              <a:tr h="606879">
                <a:tc>
                  <a:txBody>
                    <a:bodyPr/>
                    <a:lstStyle/>
                    <a:p>
                      <a:r>
                        <a:rPr sz="1875" b="0">
                          <a:solidFill>
                            <a:srgbClr val="17202E"/>
                          </a:solidFill>
                          <a:latin typeface="Helvetica Neue"/>
                          <a:ea typeface="Helvetica Neue"/>
                          <a:cs typeface="Helvetica Neue"/>
                        </a:rPr>
                        <a:t>Anonymous reads B’s client</a:t>
                      </a:r>
                    </a:p>
                  </a:txBody>
                  <a:tcPr marL="152400" marR="152400" marT="114300" marB="114300" anchor="ctr">
                    <a:solidFill>
                      <a:srgbClr val="FFFFFF"/>
                    </a:solidFill>
                  </a:tcPr>
                </a:tc>
                <a:tc>
                  <a:txBody>
                    <a:bodyPr/>
                    <a:lstStyle/>
                    <a:p>
                      <a:r>
                        <a:rPr sz="1875" b="0">
                          <a:solidFill>
                            <a:srgbClr val="17202E"/>
                          </a:solidFill>
                          <a:latin typeface="Helvetica Neue"/>
                          <a:ea typeface="Helvetica Neue"/>
                          <a:cs typeface="Helvetica Neue"/>
                        </a:rPr>
                        <a:t>Denied: 42501</a:t>
                      </a:r>
                    </a:p>
                  </a:txBody>
                  <a:tcPr marL="152400" marR="152400" marT="114300" marB="114300" anchor="ctr">
                    <a:solidFill>
                      <a:srgbClr val="FFFFFF"/>
                    </a:solidFill>
                  </a:tcPr>
                </a:tc>
              </a:tr>
              <a:tr h="606879">
                <a:tc>
                  <a:txBody>
                    <a:bodyPr/>
                    <a:lstStyle/>
                    <a:p>
                      <a:r>
                        <a:rPr sz="1875" b="0">
                          <a:solidFill>
                            <a:srgbClr val="17202E"/>
                          </a:solidFill>
                          <a:latin typeface="Helvetica Neue"/>
                          <a:ea typeface="Helvetica Neue"/>
                          <a:cs typeface="Helvetica Neue"/>
                        </a:rPr>
                        <a:t>A requests B’s client balance</a:t>
                      </a:r>
                    </a:p>
                  </a:txBody>
                  <a:tcPr marL="152400" marR="152400" marT="114300" marB="114300" anchor="ctr">
                    <a:solidFill>
                      <a:srgbClr val="FFFFFF"/>
                    </a:solidFill>
                  </a:tcPr>
                </a:tc>
                <a:tc>
                  <a:txBody>
                    <a:bodyPr/>
                    <a:lstStyle/>
                    <a:p>
                      <a:r>
                        <a:rPr sz="1875" b="0">
                          <a:solidFill>
                            <a:srgbClr val="17202E"/>
                          </a:solidFill>
                          <a:latin typeface="Helvetica Neue"/>
                          <a:ea typeface="Helvetica Neue"/>
                          <a:cs typeface="Helvetica Neue"/>
                        </a:rPr>
                        <a:t>null</a:t>
                      </a:r>
                    </a:p>
                  </a:txBody>
                  <a:tcPr marL="152400" marR="152400" marT="114300" marB="11430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AB0C6639-9F78-4146-B861-E8C913150D27}"/>
              </a:ext>
            </a:extLst>
          </p:cNvPr>
          <p:cNvSpPr>
            <a:spLocks xmlns:a="http://schemas.openxmlformats.org/drawingml/2006/main" noGrp="1"/>
          </p:cNvSpPr>
          <p:nvPr/>
        </p:nvSpPr>
        <p:spPr>
          <a:xfrm xmlns:a="http://schemas.openxmlformats.org/drawingml/2006/main">
            <a:off x="685800" y="6124575"/>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074"/>
                </a:solidFill>
                <a:latin typeface="Helvetica Neue"/>
                <a:ea typeface="Helvetica Neue"/>
                <a:cs typeface="Helvetica Neue"/>
              </a:defRPr>
            </a:pPr>
            <a:r>
              <a:rPr sz="1800" b="0">
                <a:solidFill>
                  <a:srgbClr val="526074"/>
                </a:solidFill>
                <a:latin typeface="Helvetica Neue"/>
                <a:ea typeface="Helvetica Neue"/>
                <a:cs typeface="Helvetica Neue"/>
              </a:rPr>
              <a:t>Same database and same client ID. Changing the authenticated account changes access.</a:t>
            </a:r>
          </a:p>
        </p:txBody>
      </p:sp>
    </p:spTree>
    <p:extLst>
      <p:ext uri="{BB962C8B-B14F-4D97-AF65-F5344CB8AC3E}">
        <p14:creationId xmlns:p14="http://schemas.microsoft.com/office/powerpoint/2010/main" val="1395545872"/>
      </p:ext>
    </p:extLst>
  </p:cSld>
</p:sld>
</file>

<file path=ppt/slides/slide6.xml><?xml version="1.0" encoding="utf-8"?>
<p:sld xmlns:p="http://schemas.openxmlformats.org/presentationml/2006/main">
  <p:cSld>
    <p:bg>
      <p:bgPr>
        <a:solidFill xmlns:a="http://schemas.openxmlformats.org/drawingml/2006/main">
          <a:srgbClr val="F6F7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98AD0B8-4DBE-45C5-B62A-C6D045F4722A}"/>
              </a:ext>
            </a:extLst>
          </p:cNvPr>
          <p:cNvSpPr>
            <a:spLocks xmlns:a="http://schemas.openxmlformats.org/drawingml/2006/main" noGrp="1"/>
          </p:cNvSpPr>
          <p:nvPr/>
        </p:nvSpPr>
        <p:spPr>
          <a:xfrm xmlns:a="http://schemas.openxmlformats.org/drawingml/2006/main">
            <a:off x="685800" y="5143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202E"/>
                </a:solidFill>
                <a:latin typeface="Helvetica Neue"/>
                <a:ea typeface="Helvetica Neue"/>
                <a:cs typeface="Helvetica Neue"/>
              </a:defRPr>
            </a:pPr>
            <a:r>
              <a:rPr sz="3300" b="0">
                <a:solidFill>
                  <a:srgbClr val="17202E"/>
                </a:solidFill>
                <a:latin typeface="Helvetica Neue"/>
                <a:ea typeface="Helvetica Neue"/>
                <a:cs typeface="Helvetica Neue"/>
              </a:rPr>
              <a:t>A short demonstration to present</a:t>
            </a:r>
          </a:p>
        </p:txBody>
      </p:sp>
      <p:sp>
        <p:nvSpPr>
          <p:cNvPr id="2" name="">
            <a:extLst xmlns:a="http://schemas.openxmlformats.org/drawingml/2006/main">
              <a:ext uri="{FF2B5EF4-FFF2-40B4-BE49-F238E27FC236}">
                <a16:creationId xmlns:a16="http://schemas.microsoft.com/office/drawing/2014/main" id="{D6136297-C959-4BDD-9EC4-92BCC63DB1D9}"/>
              </a:ext>
            </a:extLst>
          </p:cNvPr>
          <p:cNvSpPr>
            <a:spLocks xmlns:a="http://schemas.openxmlformats.org/drawingml/2006/main" noGrp="1"/>
          </p:cNvSpPr>
          <p:nvPr/>
        </p:nvSpPr>
        <p:spPr>
          <a:xfrm xmlns:a="http://schemas.openxmlformats.org/drawingml/2006/main">
            <a:off x="685800" y="1743075"/>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45DE5"/>
                </a:solidFill>
                <a:latin typeface="Helvetica Neue"/>
                <a:ea typeface="Helvetica Neue"/>
                <a:cs typeface="Helvetica Neue"/>
              </a:defRPr>
            </a:pPr>
            <a:r>
              <a:rPr sz="2325" b="0">
                <a:solidFill>
                  <a:srgbClr val="245DE5"/>
                </a:solidFill>
                <a:latin typeface="Helvetica Neue"/>
                <a:ea typeface="Helvetica Neue"/>
                <a:cs typeface="Helvetica Neue"/>
              </a:rPr>
              <a:t>1</a:t>
            </a:r>
          </a:p>
        </p:txBody>
      </p:sp>
      <p:sp>
        <p:nvSpPr>
          <p:cNvPr id="3" name="">
            <a:extLst xmlns:a="http://schemas.openxmlformats.org/drawingml/2006/main">
              <a:ext uri="{FF2B5EF4-FFF2-40B4-BE49-F238E27FC236}">
                <a16:creationId xmlns:a16="http://schemas.microsoft.com/office/drawing/2014/main" id="{2896AFB2-21DC-4A0D-A95D-EBBCF7B6213C}"/>
              </a:ext>
            </a:extLst>
          </p:cNvPr>
          <p:cNvSpPr>
            <a:spLocks xmlns:a="http://schemas.openxmlformats.org/drawingml/2006/main" noGrp="1"/>
          </p:cNvSpPr>
          <p:nvPr/>
        </p:nvSpPr>
        <p:spPr>
          <a:xfrm xmlns:a="http://schemas.openxmlformats.org/drawingml/2006/main">
            <a:off x="1524000" y="1743075"/>
            <a:ext cx="300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02E"/>
                </a:solidFill>
                <a:latin typeface="Helvetica Neue"/>
                <a:ea typeface="Helvetica Neue"/>
                <a:cs typeface="Helvetica Neue"/>
              </a:defRPr>
            </a:pPr>
            <a:r>
              <a:rPr sz="2250" b="0">
                <a:solidFill>
                  <a:srgbClr val="17202E"/>
                </a:solidFill>
                <a:latin typeface="Helvetica Neue"/>
                <a:ea typeface="Helvetica Neue"/>
                <a:cs typeface="Helvetica Neue"/>
              </a:rPr>
              <a:t>Account B</a:t>
            </a:r>
          </a:p>
        </p:txBody>
      </p:sp>
      <p:sp>
        <p:nvSpPr>
          <p:cNvPr id="4" name="">
            <a:extLst xmlns:a="http://schemas.openxmlformats.org/drawingml/2006/main">
              <a:ext uri="{FF2B5EF4-FFF2-40B4-BE49-F238E27FC236}">
                <a16:creationId xmlns:a16="http://schemas.microsoft.com/office/drawing/2014/main" id="{B233945B-74B4-4789-B084-F27546F5768E}"/>
              </a:ext>
            </a:extLst>
          </p:cNvPr>
          <p:cNvSpPr>
            <a:spLocks xmlns:a="http://schemas.openxmlformats.org/drawingml/2006/main" noGrp="1"/>
          </p:cNvSpPr>
          <p:nvPr/>
        </p:nvSpPr>
        <p:spPr>
          <a:xfrm xmlns:a="http://schemas.openxmlformats.org/drawingml/2006/main">
            <a:off x="4572000" y="1743075"/>
            <a:ext cx="695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26074"/>
                </a:solidFill>
                <a:latin typeface="Helvetica Neue"/>
                <a:ea typeface="Helvetica Neue"/>
                <a:cs typeface="Helvetica Neue"/>
              </a:defRPr>
            </a:pPr>
            <a:r>
              <a:rPr sz="2100" b="0">
                <a:solidFill>
                  <a:srgbClr val="526074"/>
                </a:solidFill>
                <a:latin typeface="Helvetica Neue"/>
                <a:ea typeface="Helvetica Neue"/>
                <a:cs typeface="Helvetica Neue"/>
              </a:rPr>
              <a:t>Show B’s own fictional client.</a:t>
            </a:r>
          </a:p>
        </p:txBody>
      </p:sp>
      <p:sp>
        <p:nvSpPr>
          <p:cNvPr id="5" name="">
            <a:extLst xmlns:a="http://schemas.openxmlformats.org/drawingml/2006/main">
              <a:ext uri="{FF2B5EF4-FFF2-40B4-BE49-F238E27FC236}">
                <a16:creationId xmlns:a16="http://schemas.microsoft.com/office/drawing/2014/main" id="{5187EF50-4C50-4DCB-B37D-8F37357D3C4E}"/>
              </a:ext>
            </a:extLst>
          </p:cNvPr>
          <p:cNvSpPr>
            <a:spLocks xmlns:a="http://schemas.openxmlformats.org/drawingml/2006/main" noGrp="1"/>
          </p:cNvSpPr>
          <p:nvPr/>
        </p:nvSpPr>
        <p:spPr>
          <a:xfrm xmlns:a="http://schemas.openxmlformats.org/drawingml/2006/main">
            <a:off x="685800" y="2733675"/>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45DE5"/>
                </a:solidFill>
                <a:latin typeface="Helvetica Neue"/>
                <a:ea typeface="Helvetica Neue"/>
                <a:cs typeface="Helvetica Neue"/>
              </a:defRPr>
            </a:pPr>
            <a:r>
              <a:rPr sz="2325" b="0">
                <a:solidFill>
                  <a:srgbClr val="245DE5"/>
                </a:solidFill>
                <a:latin typeface="Helvetica Neue"/>
                <a:ea typeface="Helvetica Neue"/>
                <a:cs typeface="Helvetica Neue"/>
              </a:rPr>
              <a:t>2</a:t>
            </a:r>
          </a:p>
        </p:txBody>
      </p:sp>
      <p:sp>
        <p:nvSpPr>
          <p:cNvPr id="6" name="">
            <a:extLst xmlns:a="http://schemas.openxmlformats.org/drawingml/2006/main">
              <a:ext uri="{FF2B5EF4-FFF2-40B4-BE49-F238E27FC236}">
                <a16:creationId xmlns:a16="http://schemas.microsoft.com/office/drawing/2014/main" id="{B726BFC1-486B-443F-B80B-54D2CD3C3F69}"/>
              </a:ext>
            </a:extLst>
          </p:cNvPr>
          <p:cNvSpPr>
            <a:spLocks xmlns:a="http://schemas.openxmlformats.org/drawingml/2006/main" noGrp="1"/>
          </p:cNvSpPr>
          <p:nvPr/>
        </p:nvSpPr>
        <p:spPr>
          <a:xfrm xmlns:a="http://schemas.openxmlformats.org/drawingml/2006/main">
            <a:off x="1524000" y="2733675"/>
            <a:ext cx="300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02E"/>
                </a:solidFill>
                <a:latin typeface="Helvetica Neue"/>
                <a:ea typeface="Helvetica Neue"/>
                <a:cs typeface="Helvetica Neue"/>
              </a:defRPr>
            </a:pPr>
            <a:r>
              <a:rPr sz="2250" b="0">
                <a:solidFill>
                  <a:srgbClr val="17202E"/>
                </a:solidFill>
                <a:latin typeface="Helvetica Neue"/>
                <a:ea typeface="Helvetica Neue"/>
                <a:cs typeface="Helvetica Neue"/>
              </a:rPr>
              <a:t>Account A</a:t>
            </a:r>
          </a:p>
        </p:txBody>
      </p:sp>
      <p:sp>
        <p:nvSpPr>
          <p:cNvPr id="7" name="">
            <a:extLst xmlns:a="http://schemas.openxmlformats.org/drawingml/2006/main">
              <a:ext uri="{FF2B5EF4-FFF2-40B4-BE49-F238E27FC236}">
                <a16:creationId xmlns:a16="http://schemas.microsoft.com/office/drawing/2014/main" id="{A100DCFC-2722-41C8-9C56-4F4689BC78BB}"/>
              </a:ext>
            </a:extLst>
          </p:cNvPr>
          <p:cNvSpPr>
            <a:spLocks xmlns:a="http://schemas.openxmlformats.org/drawingml/2006/main" noGrp="1"/>
          </p:cNvSpPr>
          <p:nvPr/>
        </p:nvSpPr>
        <p:spPr>
          <a:xfrm xmlns:a="http://schemas.openxmlformats.org/drawingml/2006/main">
            <a:off x="4572000" y="2733675"/>
            <a:ext cx="695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26074"/>
                </a:solidFill>
                <a:latin typeface="Helvetica Neue"/>
                <a:ea typeface="Helvetica Neue"/>
                <a:cs typeface="Helvetica Neue"/>
              </a:defRPr>
            </a:pPr>
            <a:r>
              <a:rPr sz="2100" b="0">
                <a:solidFill>
                  <a:srgbClr val="526074"/>
                </a:solidFill>
                <a:latin typeface="Helvetica Neue"/>
                <a:ea typeface="Helvetica Neue"/>
                <a:cs typeface="Helvetica Neue"/>
              </a:rPr>
              <a:t>Request that client’s exact URL or API ID.</a:t>
            </a:r>
          </a:p>
        </p:txBody>
      </p:sp>
      <p:sp>
        <p:nvSpPr>
          <p:cNvPr id="8" name="">
            <a:extLst xmlns:a="http://schemas.openxmlformats.org/drawingml/2006/main">
              <a:ext uri="{FF2B5EF4-FFF2-40B4-BE49-F238E27FC236}">
                <a16:creationId xmlns:a16="http://schemas.microsoft.com/office/drawing/2014/main" id="{215289DE-38D6-40EE-A238-230EB1BB526A}"/>
              </a:ext>
            </a:extLst>
          </p:cNvPr>
          <p:cNvSpPr>
            <a:spLocks xmlns:a="http://schemas.openxmlformats.org/drawingml/2006/main" noGrp="1"/>
          </p:cNvSpPr>
          <p:nvPr/>
        </p:nvSpPr>
        <p:spPr>
          <a:xfrm xmlns:a="http://schemas.openxmlformats.org/drawingml/2006/main">
            <a:off x="685800" y="3724275"/>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45DE5"/>
                </a:solidFill>
                <a:latin typeface="Helvetica Neue"/>
                <a:ea typeface="Helvetica Neue"/>
                <a:cs typeface="Helvetica Neue"/>
              </a:defRPr>
            </a:pPr>
            <a:r>
              <a:rPr sz="2325" b="0">
                <a:solidFill>
                  <a:srgbClr val="245DE5"/>
                </a:solidFill>
                <a:latin typeface="Helvetica Neue"/>
                <a:ea typeface="Helvetica Neue"/>
                <a:cs typeface="Helvetica Neue"/>
              </a:rPr>
              <a:t>3</a:t>
            </a:r>
          </a:p>
        </p:txBody>
      </p:sp>
      <p:sp>
        <p:nvSpPr>
          <p:cNvPr id="9" name="">
            <a:extLst xmlns:a="http://schemas.openxmlformats.org/drawingml/2006/main">
              <a:ext uri="{FF2B5EF4-FFF2-40B4-BE49-F238E27FC236}">
                <a16:creationId xmlns:a16="http://schemas.microsoft.com/office/drawing/2014/main" id="{CE5816DD-C2EB-4800-A954-6E9AAB4251FB}"/>
              </a:ext>
            </a:extLst>
          </p:cNvPr>
          <p:cNvSpPr>
            <a:spLocks xmlns:a="http://schemas.openxmlformats.org/drawingml/2006/main" noGrp="1"/>
          </p:cNvSpPr>
          <p:nvPr/>
        </p:nvSpPr>
        <p:spPr>
          <a:xfrm xmlns:a="http://schemas.openxmlformats.org/drawingml/2006/main">
            <a:off x="1524000" y="3724275"/>
            <a:ext cx="300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02E"/>
                </a:solidFill>
                <a:latin typeface="Helvetica Neue"/>
                <a:ea typeface="Helvetica Neue"/>
                <a:cs typeface="Helvetica Neue"/>
              </a:defRPr>
            </a:pPr>
            <a:r>
              <a:rPr sz="2250" b="0">
                <a:solidFill>
                  <a:srgbClr val="17202E"/>
                </a:solidFill>
                <a:latin typeface="Helvetica Neue"/>
                <a:ea typeface="Helvetica Neue"/>
                <a:cs typeface="Helvetica Neue"/>
              </a:rPr>
              <a:t>Database policy</a:t>
            </a:r>
          </a:p>
        </p:txBody>
      </p:sp>
      <p:sp>
        <p:nvSpPr>
          <p:cNvPr id="10" name="">
            <a:extLst xmlns:a="http://schemas.openxmlformats.org/drawingml/2006/main">
              <a:ext uri="{FF2B5EF4-FFF2-40B4-BE49-F238E27FC236}">
                <a16:creationId xmlns:a16="http://schemas.microsoft.com/office/drawing/2014/main" id="{96097C57-7BF2-4BC1-B995-272408569019}"/>
              </a:ext>
            </a:extLst>
          </p:cNvPr>
          <p:cNvSpPr>
            <a:spLocks xmlns:a="http://schemas.openxmlformats.org/drawingml/2006/main" noGrp="1"/>
          </p:cNvSpPr>
          <p:nvPr/>
        </p:nvSpPr>
        <p:spPr>
          <a:xfrm xmlns:a="http://schemas.openxmlformats.org/drawingml/2006/main">
            <a:off x="4572000" y="3724275"/>
            <a:ext cx="695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26074"/>
                </a:solidFill>
                <a:latin typeface="Helvetica Neue"/>
                <a:ea typeface="Helvetica Neue"/>
                <a:cs typeface="Helvetica Neue"/>
              </a:defRPr>
            </a:pPr>
            <a:r>
              <a:rPr sz="2100" b="0">
                <a:solidFill>
                  <a:srgbClr val="526074"/>
                </a:solidFill>
                <a:latin typeface="Helvetica Neue"/>
                <a:ea typeface="Helvetica Neue"/>
                <a:cs typeface="Helvetica Neue"/>
              </a:rPr>
              <a:t>Show the owner comparison in the SELECT policy.</a:t>
            </a:r>
          </a:p>
        </p:txBody>
      </p:sp>
      <p:sp>
        <p:nvSpPr>
          <p:cNvPr id="11" name="">
            <a:extLst xmlns:a="http://schemas.openxmlformats.org/drawingml/2006/main">
              <a:ext uri="{FF2B5EF4-FFF2-40B4-BE49-F238E27FC236}">
                <a16:creationId xmlns:a16="http://schemas.microsoft.com/office/drawing/2014/main" id="{F1037DCD-19C0-4D20-9B68-67BEE4353316}"/>
              </a:ext>
            </a:extLst>
          </p:cNvPr>
          <p:cNvSpPr>
            <a:spLocks xmlns:a="http://schemas.openxmlformats.org/drawingml/2006/main" noGrp="1"/>
          </p:cNvSpPr>
          <p:nvPr/>
        </p:nvSpPr>
        <p:spPr>
          <a:xfrm xmlns:a="http://schemas.openxmlformats.org/drawingml/2006/main">
            <a:off x="685800" y="4714875"/>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45DE5"/>
                </a:solidFill>
                <a:latin typeface="Helvetica Neue"/>
                <a:ea typeface="Helvetica Neue"/>
                <a:cs typeface="Helvetica Neue"/>
              </a:defRPr>
            </a:pPr>
            <a:r>
              <a:rPr sz="2325" b="0">
                <a:solidFill>
                  <a:srgbClr val="245DE5"/>
                </a:solidFill>
                <a:latin typeface="Helvetica Neue"/>
                <a:ea typeface="Helvetica Neue"/>
                <a:cs typeface="Helvetica Neue"/>
              </a:rPr>
              <a:t>4</a:t>
            </a:r>
          </a:p>
        </p:txBody>
      </p:sp>
      <p:sp>
        <p:nvSpPr>
          <p:cNvPr id="12" name="">
            <a:extLst xmlns:a="http://schemas.openxmlformats.org/drawingml/2006/main">
              <a:ext uri="{FF2B5EF4-FFF2-40B4-BE49-F238E27FC236}">
                <a16:creationId xmlns:a16="http://schemas.microsoft.com/office/drawing/2014/main" id="{8496FB03-9FE5-4A32-A379-F75653585128}"/>
              </a:ext>
            </a:extLst>
          </p:cNvPr>
          <p:cNvSpPr>
            <a:spLocks xmlns:a="http://schemas.openxmlformats.org/drawingml/2006/main" noGrp="1"/>
          </p:cNvSpPr>
          <p:nvPr/>
        </p:nvSpPr>
        <p:spPr>
          <a:xfrm xmlns:a="http://schemas.openxmlformats.org/drawingml/2006/main">
            <a:off x="1524000" y="4714875"/>
            <a:ext cx="300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02E"/>
                </a:solidFill>
                <a:latin typeface="Helvetica Neue"/>
                <a:ea typeface="Helvetica Neue"/>
                <a:cs typeface="Helvetica Neue"/>
              </a:defRPr>
            </a:pPr>
            <a:r>
              <a:rPr sz="2250" b="0">
                <a:solidFill>
                  <a:srgbClr val="17202E"/>
                </a:solidFill>
                <a:latin typeface="Helvetica Neue"/>
                <a:ea typeface="Helvetica Neue"/>
                <a:cs typeface="Helvetica Neue"/>
              </a:rPr>
              <a:t>Independent checks</a:t>
            </a:r>
          </a:p>
        </p:txBody>
      </p:sp>
      <p:sp>
        <p:nvSpPr>
          <p:cNvPr id="13" name="">
            <a:extLst xmlns:a="http://schemas.openxmlformats.org/drawingml/2006/main">
              <a:ext uri="{FF2B5EF4-FFF2-40B4-BE49-F238E27FC236}">
                <a16:creationId xmlns:a16="http://schemas.microsoft.com/office/drawing/2014/main" id="{47697523-AE47-4729-B605-C78775638F7C}"/>
              </a:ext>
            </a:extLst>
          </p:cNvPr>
          <p:cNvSpPr>
            <a:spLocks xmlns:a="http://schemas.openxmlformats.org/drawingml/2006/main" noGrp="1"/>
          </p:cNvSpPr>
          <p:nvPr/>
        </p:nvSpPr>
        <p:spPr>
          <a:xfrm xmlns:a="http://schemas.openxmlformats.org/drawingml/2006/main">
            <a:off x="4572000" y="4714875"/>
            <a:ext cx="695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26074"/>
                </a:solidFill>
                <a:latin typeface="Helvetica Neue"/>
                <a:ea typeface="Helvetica Neue"/>
                <a:cs typeface="Helvetica Neue"/>
              </a:defRPr>
            </a:pPr>
            <a:r>
              <a:rPr sz="2100" b="0">
                <a:solidFill>
                  <a:srgbClr val="526074"/>
                </a:solidFill>
                <a:latin typeface="Helvetica Neue"/>
                <a:ea typeface="Helvetica Neue"/>
                <a:cs typeface="Helvetica Neue"/>
              </a:rPr>
              <a:t>Run the local database tests and show the API results.</a:t>
            </a:r>
          </a:p>
        </p:txBody>
      </p:sp>
      <p:sp>
        <p:nvSpPr>
          <p:cNvPr id="14" name="">
            <a:extLst xmlns:a="http://schemas.openxmlformats.org/drawingml/2006/main">
              <a:ext uri="{FF2B5EF4-FFF2-40B4-BE49-F238E27FC236}">
                <a16:creationId xmlns:a16="http://schemas.microsoft.com/office/drawing/2014/main" id="{6C7FE3E7-42D4-4701-B345-A720A51F1A37}"/>
              </a:ext>
            </a:extLst>
          </p:cNvPr>
          <p:cNvSpPr>
            <a:spLocks xmlns:a="http://schemas.openxmlformats.org/drawingml/2006/main" noGrp="1"/>
          </p:cNvSpPr>
          <p:nvPr/>
        </p:nvSpPr>
        <p:spPr>
          <a:xfrm xmlns:a="http://schemas.openxmlformats.org/drawingml/2006/main">
            <a:off x="685800" y="60769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074"/>
                </a:solidFill>
                <a:latin typeface="Helvetica Neue"/>
                <a:ea typeface="Helvetica Neue"/>
                <a:cs typeface="Helvetica Neue"/>
              </a:defRPr>
            </a:pPr>
            <a:r>
              <a:rPr sz="1800" b="0">
                <a:solidFill>
                  <a:srgbClr val="526074"/>
                </a:solidFill>
                <a:latin typeface="Helvetica Neue"/>
                <a:ea typeface="Helvetica Neue"/>
                <a:cs typeface="Helvetica Neue"/>
              </a:rPr>
              <a:t>Use separate browser profiles. Keep passwords and session tokens off-screen.</a:t>
            </a:r>
          </a:p>
        </p:txBody>
      </p:sp>
    </p:spTree>
    <p:extLst>
      <p:ext uri="{BB962C8B-B14F-4D97-AF65-F5344CB8AC3E}">
        <p14:creationId xmlns:p14="http://schemas.microsoft.com/office/powerpoint/2010/main" val="967279705"/>
      </p:ext>
    </p:extLst>
  </p:cSld>
</p:sld>
</file>

<file path=ppt/slides/slide7.xml><?xml version="1.0" encoding="utf-8"?>
<p:sld xmlns:p="http://schemas.openxmlformats.org/presentationml/2006/main">
  <p:cSld>
    <p:bg>
      <p:bgPr>
        <a:solidFill xmlns:a="http://schemas.openxmlformats.org/drawingml/2006/main">
          <a:srgbClr val="F6F7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F829635-77A6-48CE-9FFA-43924A473C1B}"/>
              </a:ext>
            </a:extLst>
          </p:cNvPr>
          <p:cNvSpPr>
            <a:spLocks xmlns:a="http://schemas.openxmlformats.org/drawingml/2006/main" noGrp="1"/>
          </p:cNvSpPr>
          <p:nvPr/>
        </p:nvSpPr>
        <p:spPr>
          <a:xfrm xmlns:a="http://schemas.openxmlformats.org/drawingml/2006/main">
            <a:off x="685800" y="5143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202E"/>
                </a:solidFill>
                <a:latin typeface="Helvetica Neue"/>
                <a:ea typeface="Helvetica Neue"/>
                <a:cs typeface="Helvetica Neue"/>
              </a:defRPr>
            </a:pPr>
            <a:r>
              <a:rPr sz="3300" b="0">
                <a:solidFill>
                  <a:srgbClr val="17202E"/>
                </a:solidFill>
                <a:latin typeface="Helvetica Neue"/>
                <a:ea typeface="Helvetica Neue"/>
                <a:cs typeface="Helvetica Neue"/>
              </a:rPr>
              <a:t>What the evidence does and does not prove</a:t>
            </a:r>
          </a:p>
        </p:txBody>
      </p:sp>
      <p:sp>
        <p:nvSpPr>
          <p:cNvPr id="2" name="">
            <a:extLst xmlns:a="http://schemas.openxmlformats.org/drawingml/2006/main">
              <a:ext uri="{FF2B5EF4-FFF2-40B4-BE49-F238E27FC236}">
                <a16:creationId xmlns:a16="http://schemas.microsoft.com/office/drawing/2014/main" id="{FCB0190C-83AE-4A59-B543-E4E2A91077D9}"/>
              </a:ext>
            </a:extLst>
          </p:cNvPr>
          <p:cNvSpPr>
            <a:spLocks xmlns:a="http://schemas.openxmlformats.org/drawingml/2006/main" noGrp="1"/>
          </p:cNvSpPr>
          <p:nvPr/>
        </p:nvSpPr>
        <p:spPr>
          <a:xfrm xmlns:a="http://schemas.openxmlformats.org/drawingml/2006/main">
            <a:off x="685800" y="17049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245DE5"/>
                </a:solidFill>
                <a:latin typeface="Helvetica Neue"/>
                <a:ea typeface="Helvetica Neue"/>
                <a:cs typeface="Helvetica Neue"/>
              </a:defRPr>
            </a:pPr>
            <a:r>
              <a:rPr sz="3600" b="0">
                <a:solidFill>
                  <a:srgbClr val="245DE5"/>
                </a:solidFill>
                <a:latin typeface="Helvetica Neue"/>
                <a:ea typeface="Helvetica Neue"/>
                <a:cs typeface="Helvetica Neue"/>
              </a:rPr>
              <a:t>170 database assertions pass</a:t>
            </a:r>
          </a:p>
        </p:txBody>
      </p:sp>
      <p:sp>
        <p:nvSpPr>
          <p:cNvPr id="3" name="">
            <a:extLst xmlns:a="http://schemas.openxmlformats.org/drawingml/2006/main">
              <a:ext uri="{FF2B5EF4-FFF2-40B4-BE49-F238E27FC236}">
                <a16:creationId xmlns:a16="http://schemas.microsoft.com/office/drawing/2014/main" id="{BFBABEA9-3B5C-4ABB-BC98-A7ECA19E8896}"/>
              </a:ext>
            </a:extLst>
          </p:cNvPr>
          <p:cNvSpPr>
            <a:spLocks xmlns:a="http://schemas.openxmlformats.org/drawingml/2006/main" noGrp="1"/>
          </p:cNvSpPr>
          <p:nvPr/>
        </p:nvSpPr>
        <p:spPr>
          <a:xfrm xmlns:a="http://schemas.openxmlformats.org/drawingml/2006/main">
            <a:off x="685800" y="285750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202E"/>
                </a:solidFill>
                <a:latin typeface="Helvetica Neue"/>
                <a:ea typeface="Helvetica Neue"/>
                <a:cs typeface="Helvetica Neue"/>
              </a:defRPr>
            </a:pPr>
            <a:r>
              <a:rPr sz="2325" b="0">
                <a:solidFill>
                  <a:srgbClr val="17202E"/>
                </a:solidFill>
                <a:latin typeface="Helvetica Neue"/>
                <a:ea typeface="Helvetica Neue"/>
                <a:cs typeface="Helvetica Neue"/>
              </a:rPr>
              <a:t>Local tests cover account isolation, ownership writes,</a:t>
            </a:r>
          </a:p>
          <a:p xmlns:a="http://schemas.openxmlformats.org/drawingml/2006/main">
            <a:pPr>
              <a:defRPr sz="2325" b="0">
                <a:solidFill>
                  <a:srgbClr val="17202E"/>
                </a:solidFill>
                <a:latin typeface="Helvetica Neue"/>
                <a:ea typeface="Helvetica Neue"/>
                <a:cs typeface="Helvetica Neue"/>
              </a:defRPr>
            </a:pPr>
            <a:r>
              <a:rPr sz="2325" b="0">
                <a:solidFill>
                  <a:srgbClr val="17202E"/>
                </a:solidFill>
                <a:latin typeface="Helvetica Neue"/>
                <a:ea typeface="Helvetica Neue"/>
                <a:cs typeface="Helvetica Neue"/>
              </a:rPr>
              <a:t>recommendations, invoice rules and protected history.</a:t>
            </a:r>
          </a:p>
        </p:txBody>
      </p:sp>
      <p:sp>
        <p:nvSpPr>
          <p:cNvPr id="4" name="">
            <a:extLst xmlns:a="http://schemas.openxmlformats.org/drawingml/2006/main">
              <a:ext uri="{FF2B5EF4-FFF2-40B4-BE49-F238E27FC236}">
                <a16:creationId xmlns:a16="http://schemas.microsoft.com/office/drawing/2014/main" id="{CA5DE754-BFFC-4D65-B55C-F60CD05CF949}"/>
              </a:ext>
            </a:extLst>
          </p:cNvPr>
          <p:cNvSpPr>
            <a:spLocks xmlns:a="http://schemas.openxmlformats.org/drawingml/2006/main" noGrp="1"/>
          </p:cNvSpPr>
          <p:nvPr/>
        </p:nvSpPr>
        <p:spPr>
          <a:xfrm xmlns:a="http://schemas.openxmlformats.org/drawingml/2006/main">
            <a:off x="685800" y="4314825"/>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02E"/>
                </a:solidFill>
                <a:latin typeface="Helvetica Neue"/>
                <a:ea typeface="Helvetica Neue"/>
                <a:cs typeface="Helvetica Neue"/>
              </a:defRPr>
            </a:pPr>
            <a:r>
              <a:rPr sz="2100" b="0">
                <a:solidFill>
                  <a:srgbClr val="17202E"/>
                </a:solidFill>
                <a:latin typeface="Helvetica Neue"/>
                <a:ea typeface="Helvetica Neue"/>
                <a:cs typeface="Helvetica Neue"/>
              </a:rPr>
              <a:t>Privileged operators remain a separate trust boundary.</a:t>
            </a:r>
          </a:p>
          <a:p xmlns:a="http://schemas.openxmlformats.org/drawingml/2006/main">
            <a:pPr>
              <a:defRPr sz="2100" b="0">
                <a:solidFill>
                  <a:srgbClr val="17202E"/>
                </a:solidFill>
                <a:latin typeface="Helvetica Neue"/>
                <a:ea typeface="Helvetica Neue"/>
                <a:cs typeface="Helvetica Neue"/>
              </a:defRPr>
            </a:pPr>
            <a:r>
              <a:rPr sz="2100" b="0">
                <a:solidFill>
                  <a:srgbClr val="17202E"/>
                </a:solidFill>
                <a:latin typeface="Helvetica Neue"/>
                <a:ea typeface="Helvetica Neue"/>
                <a:cs typeface="Helvetica Neue"/>
              </a:rPr>
              <a:t>Service-role keys and superusers can bypass row-level security.</a:t>
            </a:r>
          </a:p>
        </p:txBody>
      </p:sp>
      <p:sp>
        <p:nvSpPr>
          <p:cNvPr id="5" name="">
            <a:extLst xmlns:a="http://schemas.openxmlformats.org/drawingml/2006/main">
              <a:ext uri="{FF2B5EF4-FFF2-40B4-BE49-F238E27FC236}">
                <a16:creationId xmlns:a16="http://schemas.microsoft.com/office/drawing/2014/main" id="{A224F884-76BE-497B-BB33-A893A02F8204}"/>
              </a:ext>
            </a:extLst>
          </p:cNvPr>
          <p:cNvSpPr>
            <a:spLocks xmlns:a="http://schemas.openxmlformats.org/drawingml/2006/main" noGrp="1"/>
          </p:cNvSpPr>
          <p:nvPr/>
        </p:nvSpPr>
        <p:spPr>
          <a:xfrm xmlns:a="http://schemas.openxmlformats.org/drawingml/2006/main">
            <a:off x="685800" y="560070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074"/>
                </a:solidFill>
                <a:latin typeface="Helvetica Neue"/>
                <a:ea typeface="Helvetica Neue"/>
                <a:cs typeface="Helvetica Neue"/>
              </a:defRPr>
            </a:pPr>
            <a:r>
              <a:rPr sz="1950" b="0">
                <a:solidFill>
                  <a:srgbClr val="526074"/>
                </a:solidFill>
                <a:latin typeface="Helvetica Neue"/>
                <a:ea typeface="Helvetica Neue"/>
                <a:cs typeface="Helvetica Neue"/>
              </a:rPr>
              <a:t>Hosted verification and real-data approval remain pending.</a:t>
            </a:r>
          </a:p>
          <a:p xmlns:a="http://schemas.openxmlformats.org/drawingml/2006/main">
            <a:pPr>
              <a:defRPr sz="1950" b="0">
                <a:solidFill>
                  <a:srgbClr val="526074"/>
                </a:solidFill>
                <a:latin typeface="Helvetica Neue"/>
                <a:ea typeface="Helvetica Neue"/>
                <a:cs typeface="Helvetica Neue"/>
              </a:defRPr>
            </a:pPr>
            <a:r>
              <a:rPr sz="1950" b="0">
                <a:solidFill>
                  <a:srgbClr val="526074"/>
                </a:solidFill>
                <a:latin typeface="Helvetica Neue"/>
                <a:ea typeface="Helvetica Neue"/>
                <a:cs typeface="Helvetica Neue"/>
              </a:rPr>
              <a:t>This demonstration provides local evidence, not a GDPR certification.</a:t>
            </a:r>
          </a:p>
        </p:txBody>
      </p:sp>
    </p:spTree>
    <p:extLst>
      <p:ext uri="{BB962C8B-B14F-4D97-AF65-F5344CB8AC3E}">
        <p14:creationId xmlns:p14="http://schemas.microsoft.com/office/powerpoint/2010/main" val="13434901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2026-09-04T17:49:30.2780000Z</dcterms:created>
  <dcterms:modified xsi:type="dcterms:W3CDTF">2026-09-04T17:49:30.2780000Z</dcterms:modified>
</coreProperties>
</file>
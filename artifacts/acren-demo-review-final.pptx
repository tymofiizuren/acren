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4d6449fd09446af" /><Relationship Type="http://schemas.openxmlformats.org/officeDocument/2006/relationships/extended-properties" Target="/docProps/app.xml" Id="Rdb1ec98430344c6b" /><Relationship Type="http://schemas.openxmlformats.org/officeDocument/2006/relationships/officeDocument" Target="/ppt/presentation.xml" Id="Ree07c4d745084be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0cf1d8583c4c9d"/>
  </p:sldMasterIdLst>
  <p:notesMasterIdLst>
    <p:notesMasterId xmlns:r="http://schemas.openxmlformats.org/officeDocument/2006/relationships" r:id="Raff3eaa132444aa9"/>
  </p:notesMasterIdLst>
  <p:sldIdLst>
    <p:sldId xmlns:r="http://schemas.openxmlformats.org/officeDocument/2006/relationships" id="256" r:id="R1d204a8b7da148e3"/>
    <p:sldId xmlns:r="http://schemas.openxmlformats.org/officeDocument/2006/relationships" id="257" r:id="R7412b9cd01794fbe"/>
    <p:sldId xmlns:r="http://schemas.openxmlformats.org/officeDocument/2006/relationships" id="258" r:id="R2c7967ae204248eb"/>
    <p:sldId xmlns:r="http://schemas.openxmlformats.org/officeDocument/2006/relationships" id="259" r:id="R668be2412f2e424c"/>
    <p:sldId xmlns:r="http://schemas.openxmlformats.org/officeDocument/2006/relationships" id="260" r:id="Ree1cbac568bf46dc"/>
    <p:sldId xmlns:r="http://schemas.openxmlformats.org/officeDocument/2006/relationships" id="261" r:id="Rea61383f1987450f"/>
    <p:sldId xmlns:r="http://schemas.openxmlformats.org/officeDocument/2006/relationships" id="262" r:id="R1eb139e254dc450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3869dd95ebc4edb" /><Relationship Type="http://schemas.openxmlformats.org/officeDocument/2006/relationships/slideMaster" Target="/ppt/slideMasters/slideMaster1.xml" Id="R380cf1d8583c4c9d" /><Relationship Type="http://schemas.openxmlformats.org/officeDocument/2006/relationships/notesMaster" Target="/ppt/notesMasters/notesMaster1.xml" Id="Raff3eaa132444aa9" /><Relationship Type="http://schemas.openxmlformats.org/officeDocument/2006/relationships/presProps" Target="/ppt/presProps.xml" Id="Rd95dba17c1b04c0e" /><Relationship Type="http://schemas.openxmlformats.org/officeDocument/2006/relationships/tableStyles" Target="/ppt/tableStyles.xml" Id="Rba4e6103fcb94919" /><Relationship Type="http://schemas.openxmlformats.org/officeDocument/2006/relationships/slide" Target="/ppt/slides/slide1.xml" Id="R1d204a8b7da148e3" /><Relationship Type="http://schemas.openxmlformats.org/officeDocument/2006/relationships/slide" Target="/ppt/slides/slide2.xml" Id="R7412b9cd01794fbe" /><Relationship Type="http://schemas.openxmlformats.org/officeDocument/2006/relationships/slide" Target="/ppt/slides/slide3.xml" Id="R2c7967ae204248eb" /><Relationship Type="http://schemas.openxmlformats.org/officeDocument/2006/relationships/slide" Target="/ppt/slides/slide4.xml" Id="R668be2412f2e424c" /><Relationship Type="http://schemas.openxmlformats.org/officeDocument/2006/relationships/slide" Target="/ppt/slides/slide5.xml" Id="Ree1cbac568bf46dc" /><Relationship Type="http://schemas.openxmlformats.org/officeDocument/2006/relationships/slide" Target="/ppt/slides/slide6.xml" Id="Rea61383f1987450f" /><Relationship Type="http://schemas.openxmlformats.org/officeDocument/2006/relationships/slide" Target="/ppt/slides/slide7.xml" Id="R1eb139e254dc450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1d2a88ed7543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9b026ca27d4dbd" /><Relationship Type="http://schemas.openxmlformats.org/officeDocument/2006/relationships/notesMaster" Target="/ppt/notesMasters/notesMaster1.xml" Id="R5bece07d65aa475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4eb4ca27f24921" /><Relationship Type="http://schemas.openxmlformats.org/officeDocument/2006/relationships/notesMaster" Target="/ppt/notesMasters/notesMaster1.xml" Id="R771e1de71a4a45d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5341f719fbf48a3" /><Relationship Type="http://schemas.openxmlformats.org/officeDocument/2006/relationships/notesMaster" Target="/ppt/notesMasters/notesMaster1.xml" Id="R17a1901657604a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8f1659a64f4e94" /><Relationship Type="http://schemas.openxmlformats.org/officeDocument/2006/relationships/notesMaster" Target="/ppt/notesMasters/notesMaster1.xml" Id="R4767cf7c077d47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8d11e0dcfda43e7" /><Relationship Type="http://schemas.openxmlformats.org/officeDocument/2006/relationships/notesMaster" Target="/ppt/notesMasters/notesMaster1.xml" Id="R8cc140eaf32341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1d66c31e6d4fe1" /><Relationship Type="http://schemas.openxmlformats.org/officeDocument/2006/relationships/notesMaster" Target="/ppt/notesMasters/notesMaster1.xml" Id="R577ea2b2eeef45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3d4609045a451d" /><Relationship Type="http://schemas.openxmlformats.org/officeDocument/2006/relationships/notesMaster" Target="/ppt/notesMasters/notesMaster1.xml" Id="R04169ccbd9ce40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Prepared for a product demonstration. This deck describes the local code and checks completed on 4 September 2026. It is not a production, GDPR or tax certification. Design follows the supplied restrained dark/light dashboard direction.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REQUIREMENTS.md; src/app/(app)/clients; src/app/actions/clients.ts. These are implementation statuses, not evidence of hosted acceptance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src/components/client-form.tsx; src/lib/phone.ts; src/lib/phone.test.ts. Browser checks: US draft 20255501009 stops at 2025550100; middle correction yields 2025550190, unchanged after blur. The example uses the US fictional 555-0100 range. No calls or SMS were sent.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supabase/tests/clients_rls.sql and supabase/tests/client_history.sql; local pgTAP run 4 September 2026. Test users are transaction-scoped SQL fixtures, not deliverable login accounts. This is local evidence. Hosted REST and Storage API tests must be repeated with two actual test sessions.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src/app/(app)/rates; src/components/client-jobs.tsx; src/components/client-documents.tsx; REQUIREMENTS.md. Rate creation/retirement has database-written history. Private PDF storage has a 750 KiB limit and no connected malware scanner.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npm test (37 passing), npm run typecheck, npm run lint, npx --yes supabase@2.116.0 test db (110 assertions over five files), isolated production build/session smoke check and manual browser phone interactions on 4 September 2026. SQL Storage checks concern policy metadata, not every object-delivery path. Local results do not establish hosted security or legal compliance.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REQUIREMENTS.md, README.md and deployment preflight on 4 September 2026. Vercel CLI reports logged out. No linked Vercel project or hosted Supabase project reference exists in this checkout. Keynote is not installed in the inspected application locations; this is an editable PPTX intended for import, not a native .key file.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f4e78ac47540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2cecfe71fc4f75" /><Relationship Type="http://schemas.openxmlformats.org/officeDocument/2006/relationships/slideLayout" Target="/ppt/slideLayouts/slideLayout1.xml" Id="R0811452db79f4f0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11452db79f4f0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9eb5440e34498" /><Relationship Type="http://schemas.openxmlformats.org/officeDocument/2006/relationships/notesSlide" Target="/ppt/notesSlides/notesSlide1.xml" Id="R77d7aa038c6e40c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552f11013f4ef5" /><Relationship Type="http://schemas.openxmlformats.org/officeDocument/2006/relationships/notesSlide" Target="/ppt/notesSlides/notesSlide2.xml" Id="R5335deabd6a6425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7e76fd8dd84b74" /><Relationship Type="http://schemas.openxmlformats.org/officeDocument/2006/relationships/notesSlide" Target="/ppt/notesSlides/notesSlide3.xml" Id="R91f7f9dc006a41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70365ab1b46a4" /><Relationship Type="http://schemas.openxmlformats.org/officeDocument/2006/relationships/notesSlide" Target="/ppt/notesSlides/notesSlide4.xml" Id="R7748c68646e946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7263f1fdf491d" /><Relationship Type="http://schemas.openxmlformats.org/officeDocument/2006/relationships/notesSlide" Target="/ppt/notesSlides/notesSlide5.xml" Id="R96fa8082799b40d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f25d09b2e24035" /><Relationship Type="http://schemas.openxmlformats.org/officeDocument/2006/relationships/notesSlide" Target="/ppt/notesSlides/notesSlide6.xml" Id="R79543176a61e491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0c9a507d454114" /><Relationship Type="http://schemas.openxmlformats.org/officeDocument/2006/relationships/notesSlide" Target="/ppt/notesSlides/notesSlide7.xml" Id="R6db3f155b4ad4df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2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E0E899-784C-4E00-AA50-52BC660A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7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Acren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A68460-7267-4B78-83AF-38D45F9E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981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D4DB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D4DBE6"/>
                </a:solidFill>
                <a:latin typeface="Helvetica Neue"/>
                <a:ea typeface="Helvetica Neue"/>
                <a:cs typeface="Helvetica Neue"/>
              </a:rPr>
              <a:t>A private client book for</a:t>
            </a:r>
          </a:p>
          <a:p xmlns:a="http://schemas.openxmlformats.org/drawingml/2006/main">
            <a:pPr>
              <a:defRPr sz="3000" b="0">
                <a:solidFill>
                  <a:srgbClr val="D4DBE6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0">
                <a:solidFill>
                  <a:srgbClr val="D4DBE6"/>
                </a:solidFill>
                <a:latin typeface="Helvetica Neue"/>
                <a:ea typeface="Helvetica Neue"/>
                <a:cs typeface="Helvetica Neue"/>
              </a:rPr>
              <a:t>Irish agricultural consultants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9480E8-5FDD-4BEB-9076-13FF01D21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857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Demo review</a:t>
            </a:r>
          </a:p>
          <a:p xmlns:a="http://schemas.openxmlformats.org/drawingml/2006/main">
            <a:pPr>
              <a:defRPr sz="17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AAB6C8"/>
                </a:solidFill>
                <a:latin typeface="Helvetica Neue"/>
                <a:ea typeface="Helvetica Neue"/>
                <a:cs typeface="Helvetica Neue"/>
              </a:rPr>
              <a:t>4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43091594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A1796-94C5-4586-A3D6-0D9EF57A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The client book is built locally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6724650"/>
              </a:tblGrid>
              <a:tr h="650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Original requirement</a:t>
                      </a:r>
                    </a:p>
                  </a:txBody>
                  <a:tcPr marL="171450" marR="171450" marT="133350" marB="133350" anchor="ctr">
                    <a:solidFill>
                      <a:srgbClr val="172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status</a:t>
                      </a:r>
                    </a:p>
                  </a:txBody>
                  <a:tcPr marL="171450" marR="171450" marT="133350" marB="133350" anchor="ctr">
                    <a:solidFill>
                      <a:srgbClr val="17202E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Sign up and sign in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Built. Hosted confirmation/recovery pending.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Five client details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Name, herd number, county, phone, email.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Manage records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Add, edit, archive and restore.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Find your own clients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Name/herd search, county filter and sorting.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Database isolation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Owner-only policies. Local tests pass.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6A7C7-D7FB-4FA1-B8CA-3A364739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34075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rPr>
              <a:t>Still owed: public URL, two handover accounts and a hosted isolation demonstration.</a:t>
            </a:r>
          </a:p>
        </p:txBody>
      </p:sp>
    </p:spTree>
    <p:extLst>
      <p:ext uri="{BB962C8B-B14F-4D97-AF65-F5344CB8AC3E}">
        <p14:creationId xmlns:p14="http://schemas.microsoft.com/office/powerpoint/2010/main" val="15786969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EB7755-B1D4-4B2D-A92D-0DF08051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Phone entry no longer changes as you 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33EE71-6437-4088-BCCF-B261A8BF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rPr>
              <a:t>Before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316D71-EFA1-4B5D-B2F1-E07FB6E51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2025 becomes (202)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01FFC5-C3F1-441A-A78D-6B97EFFE9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319DF7-4892-4550-96CB-1F2691683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2025 stays 2025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A7AD9A-7D99-48D3-BC7B-51780BDB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rPr>
              <a:t>Ireland by default. Country changes clear the draft.</a:t>
            </a:r>
          </a:p>
          <a:p xmlns:a="http://schemas.openxmlformats.org/drawingml/2006/main">
            <a:pPr>
              <a:defRPr sz="20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rPr>
              <a:t>Country limits and server validation remain enforced.</a:t>
            </a:r>
          </a:p>
        </p:txBody>
      </p:sp>
    </p:spTree>
    <p:extLst>
      <p:ext uri="{BB962C8B-B14F-4D97-AF65-F5344CB8AC3E}">
        <p14:creationId xmlns:p14="http://schemas.microsoft.com/office/powerpoint/2010/main" val="4904666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4E405-CC08-4941-B0C2-BF7C4EA4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The database enforces account boundaries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4914900"/>
              </a:tblGrid>
              <a:tr h="650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Attempt under a different account</a:t>
                      </a:r>
                    </a:p>
                  </a:txBody>
                  <a:tcPr marL="171450" marR="171450" marT="133350" marB="133350" anchor="ctr">
                    <a:solidFill>
                      <a:srgbClr val="172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Local result</a:t>
                      </a:r>
                    </a:p>
                  </a:txBody>
                  <a:tcPr marL="171450" marR="171450" marT="133350" marB="133350" anchor="ctr">
                    <a:solidFill>
                      <a:srgbClr val="17202E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List clients or look up a known UUID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Other account’s client is not returned.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Update another account’s client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 cross-account change is made.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Create a client with another owner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Rejected by row-level security.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Reassign client ownership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Rejected by column permissions.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 clients without signing in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Rejected.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DC2B3D-D976-4E34-9C23-26DD5CB3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rPr>
              <a:t>This is enforced below the interface, not by hiding records in the browser.</a:t>
            </a:r>
          </a:p>
        </p:txBody>
      </p:sp>
    </p:spTree>
    <p:extLst>
      <p:ext uri="{BB962C8B-B14F-4D97-AF65-F5344CB8AC3E}">
        <p14:creationId xmlns:p14="http://schemas.microsoft.com/office/powerpoint/2010/main" val="924719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68FA78-E433-4D54-84CD-B2390C8C1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Work and pricing foundations are available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4295775"/>
                <a:gridCol w="4286250"/>
              </a:tblGrid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Area</a:t>
                      </a:r>
                    </a:p>
                  </a:txBody>
                  <a:tcPr marL="171450" marR="171450" marT="133350" marB="133350" anchor="ctr">
                    <a:solidFill>
                      <a:srgbClr val="172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Available now</a:t>
                      </a:r>
                    </a:p>
                  </a:txBody>
                  <a:tcPr marL="171450" marR="171450" marT="133350" marB="133350" anchor="ctr">
                    <a:solidFill>
                      <a:srgbClr val="1720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implemented</a:t>
                      </a:r>
                    </a:p>
                  </a:txBody>
                  <a:tcPr marL="171450" marR="171450" marT="133350" marB="133350" anchor="ctr">
                    <a:solidFill>
                      <a:srgbClr val="17202E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Rate card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EUR job/hour/unit prices.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Billing linkage and VAT.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Jobs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Work status and target dates.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Official scheme submission.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Documents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Private PDF upload/download.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Malware scanning.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Invoices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Requirements documented.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02E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Creation, issuing and delivery.</a:t>
                      </a:r>
                    </a:p>
                  </a:txBody>
                  <a:tcPr marL="171450" marR="171450" marT="133350" marB="1333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BE3AB-492A-4446-AB0B-4BCB02DB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15025"/>
            <a:ext cx="108204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rPr>
              <a:t>Uploading a document does not file a scheme application or issue an invoice.</a:t>
            </a:r>
          </a:p>
        </p:txBody>
      </p:sp>
    </p:spTree>
    <p:extLst>
      <p:ext uri="{BB962C8B-B14F-4D97-AF65-F5344CB8AC3E}">
        <p14:creationId xmlns:p14="http://schemas.microsoft.com/office/powerpoint/2010/main" val="9592876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65446B-E7DB-47C8-8157-F3717AB8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The current local checks pass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E72621-2594-471D-B735-EF0F06FC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00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rPr>
              <a:t>37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32910E-53A8-4064-8FDD-75CBFBB7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passing application tests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2DE15-CCBD-4194-AE6D-1E36ADF7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857375"/>
            <a:ext cx="4572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6600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rPr>
              <a:t>110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90345-A33D-4979-9249-9BF906C8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765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passing database assertions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E19EBF-87A1-4DB3-B546-96B25A51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08204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rPr>
              <a:t>Type checks, lint and production build pass.</a:t>
            </a:r>
          </a:p>
          <a:p xmlns:a="http://schemas.openxmlformats.org/drawingml/2006/main">
            <a:pPr>
              <a:defRPr sz="2100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rPr>
              <a:t>Sign-in, private caching and HTTP-only cookies pass.</a:t>
            </a:r>
          </a:p>
          <a:p xmlns:a="http://schemas.openxmlformats.org/drawingml/2006/main">
            <a:pPr>
              <a:defRPr sz="2100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rPr>
              <a:t>Phone typing and editing checked in the browser.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C8981F-5268-436C-904B-53049DAD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198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rPr>
              <a:t>Local evidence only. Repeat critical checks on the deployed system.</a:t>
            </a:r>
          </a:p>
        </p:txBody>
      </p:sp>
    </p:spTree>
    <p:extLst>
      <p:ext uri="{BB962C8B-B14F-4D97-AF65-F5344CB8AC3E}">
        <p14:creationId xmlns:p14="http://schemas.microsoft.com/office/powerpoint/2010/main" val="58930950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0AC5EE-233B-401F-8995-9A09A71D6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Next: approve hosting and complete handover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76171-62B2-4AFF-ADBB-7CC96ADF0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1. Connect Vercel and approve the hosted Supabase project.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5119CC-B0B4-45C9-8244-04877362C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2. Apply migrations, configure auth and deploy the demo.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9F8B9E-5574-45D3-A7C6-A0E0CC61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202E"/>
                </a:solidFill>
                <a:latin typeface="Helvetica Neue"/>
                <a:ea typeface="Helvetica Neue"/>
                <a:cs typeface="Helvetica Neue"/>
              </a:rPr>
              <a:t>3. Test with two accounts, then hand over access securely.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6A5F14-8887-43F4-8C67-5636E3AF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rPr>
              <a:t>Before real client data: approve privacy operations and security controls.</a:t>
            </a:r>
          </a:p>
          <a:p xmlns:a="http://schemas.openxmlformats.org/drawingml/2006/main">
            <a:pPr>
              <a:defRPr sz="187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26074"/>
                </a:solidFill>
                <a:latin typeface="Helvetica Neue"/>
                <a:ea typeface="Helvetica Neue"/>
                <a:cs typeface="Helvetica Neue"/>
              </a:rPr>
              <a:t>Before invoices: confirm the legal issuer and billing rules.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E14B0F-5537-41FC-8AF0-3885ED14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245DE5"/>
                </a:solidFill>
                <a:latin typeface="Helvetica Neue"/>
                <a:ea typeface="Helvetica Neue"/>
                <a:cs typeface="Helvetica Neue"/>
              </a:rPr>
              <a:t>Private repository: github.com/TymofiiZuren/acren</a:t>
            </a:r>
          </a:p>
        </p:txBody>
      </p:sp>
    </p:spTree>
    <p:extLst>
      <p:ext uri="{BB962C8B-B14F-4D97-AF65-F5344CB8AC3E}">
        <p14:creationId xmlns:p14="http://schemas.microsoft.com/office/powerpoint/2010/main" val="2572603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2026-09-04T15:13:43.9180000Z</dcterms:created>
  <dcterms:modified xsi:type="dcterms:W3CDTF">2026-09-04T15:13:43.9180000Z</dcterms:modified>
</coreProperties>
</file>